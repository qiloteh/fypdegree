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6" r:id="rId42"/>
    <p:sldId id="277" r:id="rId43"/>
  </p:sldIdLst>
  <p:sldSz cx="18288000" cy="10287000"/>
  <p:notesSz cx="6858000" cy="9144000"/>
  <p:embeddedFontLst>
    <p:embeddedFont>
      <p:font typeface="Glacial Indifference" charset="1" panose="00000000000000000000"/>
      <p:regular r:id="rId6"/>
    </p:embeddedFont>
    <p:embeddedFont>
      <p:font typeface="Glacial Indifference Bold" charset="1" panose="00000800000000000000"/>
      <p:regular r:id="rId7"/>
    </p:embeddedFont>
    <p:embeddedFont>
      <p:font typeface="Glacial Indifference Italics" charset="1" panose="00000000000000000000"/>
      <p:regular r:id="rId8"/>
    </p:embeddedFont>
    <p:embeddedFont>
      <p:font typeface="Glacial Indifference Bold Italics" charset="1" panose="00000800000000000000"/>
      <p:regular r:id="rId9"/>
    </p:embeddedFont>
    <p:embeddedFont>
      <p:font typeface="Arimo" charset="1" panose="020B0604020202020204"/>
      <p:regular r:id="rId10"/>
    </p:embeddedFont>
    <p:embeddedFont>
      <p:font typeface="Arimo Bold" charset="1" panose="020B0704020202020204"/>
      <p:regular r:id="rId11"/>
    </p:embeddedFont>
    <p:embeddedFont>
      <p:font typeface="Arimo Italics" charset="1" panose="020B0604020202090204"/>
      <p:regular r:id="rId12"/>
    </p:embeddedFont>
    <p:embeddedFont>
      <p:font typeface="Arimo Bold Italics" charset="1" panose="020B0704020202090204"/>
      <p:regular r:id="rId13"/>
    </p:embeddedFont>
    <p:embeddedFont>
      <p:font typeface="Open Sans" charset="1" panose="020B0606030504020204"/>
      <p:regular r:id="rId14"/>
    </p:embeddedFont>
    <p:embeddedFont>
      <p:font typeface="Open Sans Bold" charset="1" panose="020B0806030504020204"/>
      <p:regular r:id="rId15"/>
    </p:embeddedFont>
    <p:embeddedFont>
      <p:font typeface="Open Sans Italics" charset="1" panose="020B0606030504020204"/>
      <p:regular r:id="rId16"/>
    </p:embeddedFont>
    <p:embeddedFont>
      <p:font typeface="Open Sans Bold Italics" charset="1" panose="020B0806030504020204"/>
      <p:regular r:id="rId17"/>
    </p:embeddedFont>
    <p:embeddedFont>
      <p:font typeface="Garet" charset="1" panose="00000000000000000000"/>
      <p:regular r:id="rId18"/>
    </p:embeddedFont>
    <p:embeddedFont>
      <p:font typeface="Garet Bold" charset="1" panose="00000000000000000000"/>
      <p:regular r:id="rId19"/>
    </p:embeddedFont>
    <p:embeddedFont>
      <p:font typeface="Garet ExtraBold" charset="1" panose="00000000000000000000"/>
      <p:regular r:id="rId20"/>
    </p:embeddedFont>
    <p:embeddedFont>
      <p:font typeface="Garet ExtraBold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slides/slide1.xml" Type="http://schemas.openxmlformats.org/officeDocument/2006/relationships/slide"/><Relationship Id="rId23" Target="slides/slide2.xml" Type="http://schemas.openxmlformats.org/officeDocument/2006/relationships/slide"/><Relationship Id="rId24" Target="slides/slide3.xml" Type="http://schemas.openxmlformats.org/officeDocument/2006/relationships/slide"/><Relationship Id="rId25" Target="slides/slide4.xml" Type="http://schemas.openxmlformats.org/officeDocument/2006/relationships/slide"/><Relationship Id="rId26" Target="slides/slide5.xml" Type="http://schemas.openxmlformats.org/officeDocument/2006/relationships/slide"/><Relationship Id="rId27" Target="slides/slide6.xml" Type="http://schemas.openxmlformats.org/officeDocument/2006/relationships/slide"/><Relationship Id="rId28" Target="slides/slide7.xml" Type="http://schemas.openxmlformats.org/officeDocument/2006/relationships/slide"/><Relationship Id="rId29" Target="slides/slide8.xml" Type="http://schemas.openxmlformats.org/officeDocument/2006/relationships/slide"/><Relationship Id="rId3" Target="viewProps.xml" Type="http://schemas.openxmlformats.org/officeDocument/2006/relationships/viewProps"/><Relationship Id="rId30" Target="slides/slide9.xml" Type="http://schemas.openxmlformats.org/officeDocument/2006/relationships/slide"/><Relationship Id="rId31" Target="slides/slide10.xml" Type="http://schemas.openxmlformats.org/officeDocument/2006/relationships/slide"/><Relationship Id="rId32" Target="slides/slide11.xml" Type="http://schemas.openxmlformats.org/officeDocument/2006/relationships/slide"/><Relationship Id="rId33" Target="slides/slide12.xml" Type="http://schemas.openxmlformats.org/officeDocument/2006/relationships/slide"/><Relationship Id="rId34" Target="slides/slide13.xml" Type="http://schemas.openxmlformats.org/officeDocument/2006/relationships/slide"/><Relationship Id="rId35" Target="slides/slide14.xml" Type="http://schemas.openxmlformats.org/officeDocument/2006/relationships/slide"/><Relationship Id="rId36" Target="slides/slide15.xml" Type="http://schemas.openxmlformats.org/officeDocument/2006/relationships/slide"/><Relationship Id="rId37" Target="slides/slide16.xml" Type="http://schemas.openxmlformats.org/officeDocument/2006/relationships/slide"/><Relationship Id="rId38" Target="slides/slide17.xml" Type="http://schemas.openxmlformats.org/officeDocument/2006/relationships/slide"/><Relationship Id="rId39" Target="slides/slide18.xml" Type="http://schemas.openxmlformats.org/officeDocument/2006/relationships/slide"/><Relationship Id="rId4" Target="theme/theme1.xml" Type="http://schemas.openxmlformats.org/officeDocument/2006/relationships/theme"/><Relationship Id="rId40" Target="slides/slide19.xml" Type="http://schemas.openxmlformats.org/officeDocument/2006/relationships/slide"/><Relationship Id="rId41" Target="slides/slide20.xml" Type="http://schemas.openxmlformats.org/officeDocument/2006/relationships/slide"/><Relationship Id="rId42" Target="slides/slide21.xml" Type="http://schemas.openxmlformats.org/officeDocument/2006/relationships/slide"/><Relationship Id="rId43" Target="slides/slide22.xml" Type="http://schemas.openxmlformats.org/officeDocument/2006/relationships/slid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21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3174" y="1028700"/>
            <a:ext cx="16296126" cy="8180826"/>
            <a:chOff x="0" y="0"/>
            <a:chExt cx="3812450" cy="1913890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3812450" cy="1913890"/>
            </a:xfrm>
            <a:custGeom>
              <a:avLst/>
              <a:gdLst/>
              <a:ahLst/>
              <a:cxnLst/>
              <a:rect r="r" b="b" t="t" l="l"/>
              <a:pathLst>
                <a:path h="1913890" w="3812450">
                  <a:moveTo>
                    <a:pt x="368799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687990" y="0"/>
                  </a:lnTo>
                  <a:cubicBezTo>
                    <a:pt x="3756570" y="0"/>
                    <a:pt x="3812450" y="55880"/>
                    <a:pt x="3812450" y="124460"/>
                  </a:cubicBezTo>
                  <a:lnTo>
                    <a:pt x="3812450" y="1789430"/>
                  </a:lnTo>
                  <a:cubicBezTo>
                    <a:pt x="3812450" y="1858010"/>
                    <a:pt x="3756570" y="1913890"/>
                    <a:pt x="3687990" y="1913890"/>
                  </a:cubicBezTo>
                  <a:close/>
                </a:path>
              </a:pathLst>
            </a:custGeom>
            <a:solidFill>
              <a:srgbClr val="0E0E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3174" y="1028700"/>
            <a:ext cx="4134700" cy="8180826"/>
            <a:chOff x="0" y="0"/>
            <a:chExt cx="967306" cy="1913890"/>
          </a:xfrm>
        </p:grpSpPr>
        <p:sp>
          <p:nvSpPr>
            <p:cNvPr name="Freeform 5" id="5"/>
            <p:cNvSpPr/>
            <p:nvPr/>
          </p:nvSpPr>
          <p:spPr>
            <a:xfrm>
              <a:off x="0" y="0"/>
              <a:ext cx="967306" cy="1913890"/>
            </a:xfrm>
            <a:custGeom>
              <a:avLst/>
              <a:gdLst/>
              <a:ahLst/>
              <a:cxnLst/>
              <a:rect r="r" b="b" t="t" l="l"/>
              <a:pathLst>
                <a:path h="1913890" w="967306">
                  <a:moveTo>
                    <a:pt x="842846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42846" y="0"/>
                  </a:lnTo>
                  <a:cubicBezTo>
                    <a:pt x="911426" y="0"/>
                    <a:pt x="967306" y="55880"/>
                    <a:pt x="967306" y="124460"/>
                  </a:cubicBezTo>
                  <a:lnTo>
                    <a:pt x="967306" y="1789430"/>
                  </a:lnTo>
                  <a:cubicBezTo>
                    <a:pt x="967306" y="1858010"/>
                    <a:pt x="911426" y="1913890"/>
                    <a:pt x="842846" y="1913890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761606" y="1028700"/>
            <a:ext cx="5943799" cy="8180826"/>
            <a:chOff x="0" y="0"/>
            <a:chExt cx="2168314" cy="2984388"/>
          </a:xfrm>
        </p:grpSpPr>
        <p:sp>
          <p:nvSpPr>
            <p:cNvPr name="Freeform 7" id="7"/>
            <p:cNvSpPr/>
            <p:nvPr/>
          </p:nvSpPr>
          <p:spPr>
            <a:xfrm>
              <a:off x="0" y="0"/>
              <a:ext cx="2168314" cy="2984388"/>
            </a:xfrm>
            <a:custGeom>
              <a:avLst/>
              <a:gdLst/>
              <a:ahLst/>
              <a:cxnLst/>
              <a:rect r="r" b="b" t="t" l="l"/>
              <a:pathLst>
                <a:path h="2984388" w="2168314">
                  <a:moveTo>
                    <a:pt x="0" y="0"/>
                  </a:moveTo>
                  <a:lnTo>
                    <a:pt x="2168314" y="0"/>
                  </a:lnTo>
                  <a:lnTo>
                    <a:pt x="2168314" y="2984388"/>
                  </a:lnTo>
                  <a:lnTo>
                    <a:pt x="0" y="2984388"/>
                  </a:lnTo>
                  <a:close/>
                </a:path>
              </a:pathLst>
            </a:custGeom>
            <a:solidFill>
              <a:srgbClr val="0E0E0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5097873" y="2006585"/>
            <a:ext cx="10860995" cy="178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3870"/>
              </a:lnSpc>
            </a:pPr>
            <a:r>
              <a:rPr lang="en-US" sz="12061">
                <a:solidFill>
                  <a:srgbClr val="CB4F69"/>
                </a:solidFill>
                <a:latin typeface="Garet ExtraBold"/>
              </a:rPr>
              <a:t>FYP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97873" y="3549009"/>
            <a:ext cx="11883636" cy="192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5054"/>
              </a:lnSpc>
            </a:pPr>
            <a:r>
              <a:rPr lang="en-US" sz="13090">
                <a:solidFill>
                  <a:srgbClr val="0DFD81"/>
                </a:solidFill>
                <a:latin typeface="Garet ExtraBold"/>
              </a:rPr>
              <a:t>Presentation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75664" y="949246"/>
            <a:ext cx="12729169" cy="805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526"/>
              </a:lnSpc>
            </a:pPr>
            <a:r>
              <a:rPr lang="en-US" sz="4661">
                <a:solidFill>
                  <a:srgbClr val="FFFFFF"/>
                </a:solidFill>
                <a:latin typeface="Garet Bold"/>
              </a:rPr>
              <a:t>Aqil Helmi bin Wan Nordin (IS0106730)</a:t>
            </a:r>
          </a:p>
        </p:txBody>
      </p:sp>
      <p:sp>
        <p:nvSpPr>
          <p:cNvPr name="AutoShape 11" id="11"/>
          <p:cNvSpPr/>
          <p:nvPr/>
        </p:nvSpPr>
        <p:spPr>
          <a:xfrm rot="0">
            <a:off x="8508445" y="7906498"/>
            <a:ext cx="732859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0">
            <a:off x="5375664" y="7906498"/>
            <a:ext cx="3258356" cy="0"/>
          </a:xfrm>
          <a:prstGeom prst="line">
            <a:avLst/>
          </a:prstGeom>
          <a:ln cap="flat" w="47625">
            <a:solidFill>
              <a:srgbClr val="CB4F69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13" id="13"/>
          <p:cNvSpPr txBox="true"/>
          <p:nvPr/>
        </p:nvSpPr>
        <p:spPr>
          <a:xfrm rot="0">
            <a:off x="4974801" y="5558278"/>
            <a:ext cx="12284499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Open Sans Italics"/>
              </a:rPr>
              <a:t>Predicting Job Satisfaction of Employees in a Private Organization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97143" y="1555901"/>
            <a:ext cx="239044" cy="23904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CB4F6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840206" y="1555901"/>
            <a:ext cx="239044" cy="239044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47C87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179152" y="1555901"/>
            <a:ext cx="239044" cy="239044"/>
            <a:chOff x="0" y="0"/>
            <a:chExt cx="6350000" cy="6350000"/>
          </a:xfrm>
        </p:grpSpPr>
        <p:sp>
          <p:nvSpPr>
            <p:cNvPr name="Freeform 19" id="19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9A16"/>
            </a:solidFill>
          </p:spPr>
        </p:sp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70817" y="4535229"/>
            <a:ext cx="491697" cy="478287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54999" y="2336957"/>
            <a:ext cx="485207" cy="468831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407408" y="5614572"/>
            <a:ext cx="528980" cy="408637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>
            <a:off x="1407408" y="5330553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277243" y="3458723"/>
            <a:ext cx="678845" cy="452975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2097783" y="2451996"/>
            <a:ext cx="1138442" cy="35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Home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64224" y="4458945"/>
            <a:ext cx="2017481" cy="7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CRISP-DM Methodology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79250" y="5620870"/>
            <a:ext cx="1787625" cy="34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Summary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64224" y="3305601"/>
            <a:ext cx="2017481" cy="7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Project Background</a:t>
            </a:r>
          </a:p>
        </p:txBody>
      </p:sp>
      <p:sp>
        <p:nvSpPr>
          <p:cNvPr name="AutoShape 29" id="29"/>
          <p:cNvSpPr/>
          <p:nvPr/>
        </p:nvSpPr>
        <p:spPr>
          <a:xfrm rot="0">
            <a:off x="1367232" y="4197269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rot="0">
            <a:off x="1407408" y="2868050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3174" y="1028700"/>
            <a:ext cx="16296126" cy="8180826"/>
            <a:chOff x="0" y="0"/>
            <a:chExt cx="3812450" cy="1913890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3812450" cy="1913890"/>
            </a:xfrm>
            <a:custGeom>
              <a:avLst/>
              <a:gdLst/>
              <a:ahLst/>
              <a:cxnLst/>
              <a:rect r="r" b="b" t="t" l="l"/>
              <a:pathLst>
                <a:path h="1913890" w="3812450">
                  <a:moveTo>
                    <a:pt x="368799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687990" y="0"/>
                  </a:lnTo>
                  <a:cubicBezTo>
                    <a:pt x="3756570" y="0"/>
                    <a:pt x="3812450" y="55880"/>
                    <a:pt x="3812450" y="124460"/>
                  </a:cubicBezTo>
                  <a:lnTo>
                    <a:pt x="3812450" y="1789430"/>
                  </a:lnTo>
                  <a:cubicBezTo>
                    <a:pt x="3812450" y="1858010"/>
                    <a:pt x="3756570" y="1913890"/>
                    <a:pt x="3687990" y="1913890"/>
                  </a:cubicBezTo>
                  <a:close/>
                </a:path>
              </a:pathLst>
            </a:custGeom>
            <a:solidFill>
              <a:srgbClr val="0E0E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3174" y="1028700"/>
            <a:ext cx="4134700" cy="8180826"/>
            <a:chOff x="0" y="0"/>
            <a:chExt cx="967306" cy="1913890"/>
          </a:xfrm>
        </p:grpSpPr>
        <p:sp>
          <p:nvSpPr>
            <p:cNvPr name="Freeform 5" id="5"/>
            <p:cNvSpPr/>
            <p:nvPr/>
          </p:nvSpPr>
          <p:spPr>
            <a:xfrm>
              <a:off x="0" y="0"/>
              <a:ext cx="967306" cy="1913890"/>
            </a:xfrm>
            <a:custGeom>
              <a:avLst/>
              <a:gdLst/>
              <a:ahLst/>
              <a:cxnLst/>
              <a:rect r="r" b="b" t="t" l="l"/>
              <a:pathLst>
                <a:path h="1913890" w="967306">
                  <a:moveTo>
                    <a:pt x="842846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42846" y="0"/>
                  </a:lnTo>
                  <a:cubicBezTo>
                    <a:pt x="911426" y="0"/>
                    <a:pt x="967306" y="55880"/>
                    <a:pt x="967306" y="124460"/>
                  </a:cubicBezTo>
                  <a:lnTo>
                    <a:pt x="967306" y="1789430"/>
                  </a:lnTo>
                  <a:cubicBezTo>
                    <a:pt x="967306" y="1858010"/>
                    <a:pt x="911426" y="1913890"/>
                    <a:pt x="842846" y="1913890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761606" y="1028700"/>
            <a:ext cx="5943799" cy="8180826"/>
            <a:chOff x="0" y="0"/>
            <a:chExt cx="2168314" cy="2984388"/>
          </a:xfrm>
        </p:grpSpPr>
        <p:sp>
          <p:nvSpPr>
            <p:cNvPr name="Freeform 7" id="7"/>
            <p:cNvSpPr/>
            <p:nvPr/>
          </p:nvSpPr>
          <p:spPr>
            <a:xfrm>
              <a:off x="0" y="0"/>
              <a:ext cx="2168314" cy="2984388"/>
            </a:xfrm>
            <a:custGeom>
              <a:avLst/>
              <a:gdLst/>
              <a:ahLst/>
              <a:cxnLst/>
              <a:rect r="r" b="b" t="t" l="l"/>
              <a:pathLst>
                <a:path h="2984388" w="2168314">
                  <a:moveTo>
                    <a:pt x="0" y="0"/>
                  </a:moveTo>
                  <a:lnTo>
                    <a:pt x="2168314" y="0"/>
                  </a:lnTo>
                  <a:lnTo>
                    <a:pt x="2168314" y="2984388"/>
                  </a:lnTo>
                  <a:lnTo>
                    <a:pt x="0" y="2984388"/>
                  </a:lnTo>
                  <a:close/>
                </a:path>
              </a:pathLst>
            </a:custGeom>
            <a:solidFill>
              <a:srgbClr val="0E0E0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97143" y="1555901"/>
            <a:ext cx="239044" cy="23904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CB4F6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840206" y="1555901"/>
            <a:ext cx="239044" cy="23904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47C87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179152" y="1555901"/>
            <a:ext cx="239044" cy="23904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9A16"/>
            </a:solidFill>
          </p:spPr>
        </p:sp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true" flipV="false" rot="0">
            <a:off x="5375664" y="1405186"/>
            <a:ext cx="540474" cy="540474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6171088" y="1405186"/>
            <a:ext cx="540474" cy="540474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70817" y="4535229"/>
            <a:ext cx="491697" cy="478287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26040" y="2490041"/>
            <a:ext cx="485207" cy="468831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407408" y="5614572"/>
            <a:ext cx="528980" cy="408637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>
            <a:off x="1326040" y="3082122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0">
            <a:off x="1407408" y="5330553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277243" y="3458723"/>
            <a:ext cx="678845" cy="452975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7036108" y="1474714"/>
            <a:ext cx="2704556" cy="35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Project Background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75664" y="2445810"/>
            <a:ext cx="11206240" cy="134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0545"/>
              </a:lnSpc>
            </a:pPr>
            <a:r>
              <a:rPr lang="en-US" sz="9169">
                <a:solidFill>
                  <a:srgbClr val="0DFD81"/>
                </a:solidFill>
                <a:latin typeface="Garet ExtraBold"/>
              </a:rPr>
              <a:t>Introduction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375664" y="4767647"/>
            <a:ext cx="5033872" cy="2102489"/>
            <a:chOff x="0" y="0"/>
            <a:chExt cx="6711829" cy="2803318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711829" cy="2803318"/>
              <a:chOff x="0" y="0"/>
              <a:chExt cx="4582321" cy="1913890"/>
            </a:xfrm>
          </p:grpSpPr>
          <p:sp>
            <p:nvSpPr>
              <p:cNvPr name="Freeform 26" id="26"/>
              <p:cNvSpPr/>
              <p:nvPr/>
            </p:nvSpPr>
            <p:spPr>
              <a:xfrm>
                <a:off x="0" y="0"/>
                <a:ext cx="4582321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4582321">
                    <a:moveTo>
                      <a:pt x="4457860" y="1913890"/>
                    </a:moveTo>
                    <a:lnTo>
                      <a:pt x="124460" y="1913890"/>
                    </a:lnTo>
                    <a:cubicBezTo>
                      <a:pt x="55880" y="1913890"/>
                      <a:pt x="0" y="1858010"/>
                      <a:pt x="0" y="178943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4457861" y="0"/>
                    </a:lnTo>
                    <a:cubicBezTo>
                      <a:pt x="4526441" y="0"/>
                      <a:pt x="4582321" y="55880"/>
                      <a:pt x="4582321" y="124460"/>
                    </a:cubicBezTo>
                    <a:lnTo>
                      <a:pt x="4582321" y="1789430"/>
                    </a:lnTo>
                    <a:cubicBezTo>
                      <a:pt x="4582321" y="1858010"/>
                      <a:pt x="4526441" y="1913890"/>
                      <a:pt x="4457861" y="1913890"/>
                    </a:cubicBezTo>
                    <a:close/>
                  </a:path>
                </a:pathLst>
              </a:custGeom>
              <a:solidFill>
                <a:srgbClr val="1E1E1E"/>
              </a:solid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212390" y="152514"/>
              <a:ext cx="2416982" cy="1472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8590"/>
                </a:lnSpc>
              </a:pPr>
              <a:r>
                <a:rPr lang="en-US" sz="7470">
                  <a:solidFill>
                    <a:srgbClr val="CB4F69"/>
                  </a:solidFill>
                  <a:latin typeface="Garet ExtraBold"/>
                </a:rPr>
                <a:t>01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360316" y="1625460"/>
              <a:ext cx="318726" cy="318726"/>
              <a:chOff x="0" y="0"/>
              <a:chExt cx="6350000" cy="6350000"/>
            </a:xfrm>
          </p:grpSpPr>
          <p:sp>
            <p:nvSpPr>
              <p:cNvPr name="Freeform 29" id="2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21665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CB4F69"/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817733" y="1625460"/>
              <a:ext cx="318726" cy="318726"/>
              <a:chOff x="0" y="0"/>
              <a:chExt cx="6350000" cy="6350000"/>
            </a:xfrm>
          </p:grpSpPr>
          <p:sp>
            <p:nvSpPr>
              <p:cNvPr name="Freeform 31" id="31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21665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47C87E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1269660" y="1625460"/>
              <a:ext cx="318726" cy="318726"/>
              <a:chOff x="0" y="0"/>
              <a:chExt cx="6350000" cy="6350000"/>
            </a:xfrm>
          </p:grpSpPr>
          <p:sp>
            <p:nvSpPr>
              <p:cNvPr name="Freeform 33" id="33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21665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FF9A16"/>
              </a:solidFill>
            </p:spPr>
          </p:sp>
        </p:grpSp>
        <p:sp>
          <p:nvSpPr>
            <p:cNvPr name="TextBox 34" id="34"/>
            <p:cNvSpPr txBox="true"/>
            <p:nvPr/>
          </p:nvSpPr>
          <p:spPr>
            <a:xfrm rot="0">
              <a:off x="2213926" y="239828"/>
              <a:ext cx="4024619" cy="602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825"/>
                </a:lnSpc>
              </a:pPr>
              <a:r>
                <a:rPr lang="en-US" sz="2732">
                  <a:solidFill>
                    <a:srgbClr val="FFFFFF"/>
                  </a:solidFill>
                  <a:latin typeface="Garet Bold"/>
                </a:rPr>
                <a:t>About Project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2213926" y="991005"/>
              <a:ext cx="4024619" cy="932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2845"/>
                </a:lnSpc>
              </a:pPr>
              <a:r>
                <a:rPr lang="en-US" sz="2032">
                  <a:solidFill>
                    <a:srgbClr val="FFFFFF"/>
                  </a:solidFill>
                  <a:latin typeface="Garet"/>
                </a:rPr>
                <a:t>Build model to predict job satisfaction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705406" y="4774372"/>
            <a:ext cx="5033872" cy="2102489"/>
            <a:chOff x="0" y="0"/>
            <a:chExt cx="6711829" cy="2803318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6711829" cy="2803318"/>
              <a:chOff x="0" y="0"/>
              <a:chExt cx="4582321" cy="1913890"/>
            </a:xfrm>
          </p:grpSpPr>
          <p:sp>
            <p:nvSpPr>
              <p:cNvPr name="Freeform 38" id="38"/>
              <p:cNvSpPr/>
              <p:nvPr/>
            </p:nvSpPr>
            <p:spPr>
              <a:xfrm>
                <a:off x="0" y="0"/>
                <a:ext cx="4582321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4582321">
                    <a:moveTo>
                      <a:pt x="4457860" y="1913890"/>
                    </a:moveTo>
                    <a:lnTo>
                      <a:pt x="124460" y="1913890"/>
                    </a:lnTo>
                    <a:cubicBezTo>
                      <a:pt x="55880" y="1913890"/>
                      <a:pt x="0" y="1858010"/>
                      <a:pt x="0" y="178943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4457861" y="0"/>
                    </a:lnTo>
                    <a:cubicBezTo>
                      <a:pt x="4526441" y="0"/>
                      <a:pt x="4582321" y="55880"/>
                      <a:pt x="4582321" y="124460"/>
                    </a:cubicBezTo>
                    <a:lnTo>
                      <a:pt x="4582321" y="1789430"/>
                    </a:lnTo>
                    <a:cubicBezTo>
                      <a:pt x="4582321" y="1858010"/>
                      <a:pt x="4526441" y="1913890"/>
                      <a:pt x="4457861" y="1913890"/>
                    </a:cubicBezTo>
                    <a:close/>
                  </a:path>
                </a:pathLst>
              </a:custGeom>
              <a:solidFill>
                <a:srgbClr val="1E1E1E"/>
              </a:solidFill>
            </p:spPr>
          </p:sp>
        </p:grpSp>
        <p:sp>
          <p:nvSpPr>
            <p:cNvPr name="TextBox 39" id="39"/>
            <p:cNvSpPr txBox="true"/>
            <p:nvPr/>
          </p:nvSpPr>
          <p:spPr>
            <a:xfrm rot="0">
              <a:off x="244828" y="278200"/>
              <a:ext cx="2416982" cy="1472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8590"/>
                </a:lnSpc>
              </a:pPr>
              <a:r>
                <a:rPr lang="en-US" sz="7470">
                  <a:solidFill>
                    <a:srgbClr val="CB4F69"/>
                  </a:solidFill>
                  <a:latin typeface="Garet ExtraBold"/>
                </a:rPr>
                <a:t>02</a:t>
              </a:r>
            </a:p>
          </p:txBody>
        </p:sp>
        <p:grpSp>
          <p:nvGrpSpPr>
            <p:cNvPr name="Group 40" id="40"/>
            <p:cNvGrpSpPr/>
            <p:nvPr/>
          </p:nvGrpSpPr>
          <p:grpSpPr>
            <a:xfrm rot="0">
              <a:off x="552570" y="1751146"/>
              <a:ext cx="318726" cy="318726"/>
              <a:chOff x="0" y="0"/>
              <a:chExt cx="6350000" cy="6350000"/>
            </a:xfrm>
          </p:grpSpPr>
          <p:sp>
            <p:nvSpPr>
              <p:cNvPr name="Freeform 41" id="41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21665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CB4F69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1009987" y="1751146"/>
              <a:ext cx="318726" cy="318726"/>
              <a:chOff x="0" y="0"/>
              <a:chExt cx="6350000" cy="6350000"/>
            </a:xfrm>
          </p:grpSpPr>
          <p:sp>
            <p:nvSpPr>
              <p:cNvPr name="Freeform 43" id="43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21665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47C87E"/>
              </a:solidFill>
            </p:spPr>
          </p:sp>
        </p:grpSp>
        <p:grpSp>
          <p:nvGrpSpPr>
            <p:cNvPr name="Group 44" id="44"/>
            <p:cNvGrpSpPr/>
            <p:nvPr/>
          </p:nvGrpSpPr>
          <p:grpSpPr>
            <a:xfrm rot="0">
              <a:off x="1461914" y="1751146"/>
              <a:ext cx="318726" cy="318726"/>
              <a:chOff x="0" y="0"/>
              <a:chExt cx="6350000" cy="6350000"/>
            </a:xfrm>
          </p:grpSpPr>
          <p:sp>
            <p:nvSpPr>
              <p:cNvPr name="Freeform 45" id="45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21665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FF9A16"/>
              </a:solidFill>
            </p:spPr>
          </p:sp>
        </p:grpSp>
        <p:sp>
          <p:nvSpPr>
            <p:cNvPr name="TextBox 46" id="46"/>
            <p:cNvSpPr txBox="true"/>
            <p:nvPr/>
          </p:nvSpPr>
          <p:spPr>
            <a:xfrm rot="0">
              <a:off x="2458393" y="296343"/>
              <a:ext cx="4024619" cy="602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825"/>
                </a:lnSpc>
              </a:pPr>
              <a:r>
                <a:rPr lang="en-US" sz="2732">
                  <a:solidFill>
                    <a:srgbClr val="FFFFFF"/>
                  </a:solidFill>
                  <a:latin typeface="Garet Bold"/>
                </a:rPr>
                <a:t>Justification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2458393" y="1047521"/>
              <a:ext cx="4024619" cy="932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2845"/>
                </a:lnSpc>
              </a:pPr>
              <a:r>
                <a:rPr lang="en-US" sz="2032">
                  <a:solidFill>
                    <a:srgbClr val="FFFFFF"/>
                  </a:solidFill>
                  <a:latin typeface="Garet"/>
                </a:rPr>
                <a:t>Reference for pursuing career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2137959" y="2523748"/>
            <a:ext cx="1138442" cy="35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Home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064224" y="4458945"/>
            <a:ext cx="2017481" cy="7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CRISP-DM Methodology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079250" y="5620870"/>
            <a:ext cx="1787625" cy="34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Summary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064224" y="3305601"/>
            <a:ext cx="2017481" cy="7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Project Background</a:t>
            </a:r>
          </a:p>
        </p:txBody>
      </p:sp>
      <p:sp>
        <p:nvSpPr>
          <p:cNvPr name="AutoShape 52" id="52"/>
          <p:cNvSpPr/>
          <p:nvPr/>
        </p:nvSpPr>
        <p:spPr>
          <a:xfrm rot="0">
            <a:off x="1367232" y="4197269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3174" y="1028700"/>
            <a:ext cx="16296126" cy="8180826"/>
            <a:chOff x="0" y="0"/>
            <a:chExt cx="3812450" cy="1913890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3812450" cy="1913890"/>
            </a:xfrm>
            <a:custGeom>
              <a:avLst/>
              <a:gdLst/>
              <a:ahLst/>
              <a:cxnLst/>
              <a:rect r="r" b="b" t="t" l="l"/>
              <a:pathLst>
                <a:path h="1913890" w="3812450">
                  <a:moveTo>
                    <a:pt x="368799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687990" y="0"/>
                  </a:lnTo>
                  <a:cubicBezTo>
                    <a:pt x="3756570" y="0"/>
                    <a:pt x="3812450" y="55880"/>
                    <a:pt x="3812450" y="124460"/>
                  </a:cubicBezTo>
                  <a:lnTo>
                    <a:pt x="3812450" y="1789430"/>
                  </a:lnTo>
                  <a:cubicBezTo>
                    <a:pt x="3812450" y="1858010"/>
                    <a:pt x="3756570" y="1913890"/>
                    <a:pt x="3687990" y="1913890"/>
                  </a:cubicBezTo>
                  <a:close/>
                </a:path>
              </a:pathLst>
            </a:custGeom>
            <a:solidFill>
              <a:srgbClr val="0E0E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3174" y="1028700"/>
            <a:ext cx="4134700" cy="8180826"/>
            <a:chOff x="0" y="0"/>
            <a:chExt cx="967306" cy="1913890"/>
          </a:xfrm>
        </p:grpSpPr>
        <p:sp>
          <p:nvSpPr>
            <p:cNvPr name="Freeform 5" id="5"/>
            <p:cNvSpPr/>
            <p:nvPr/>
          </p:nvSpPr>
          <p:spPr>
            <a:xfrm>
              <a:off x="0" y="0"/>
              <a:ext cx="967306" cy="1913890"/>
            </a:xfrm>
            <a:custGeom>
              <a:avLst/>
              <a:gdLst/>
              <a:ahLst/>
              <a:cxnLst/>
              <a:rect r="r" b="b" t="t" l="l"/>
              <a:pathLst>
                <a:path h="1913890" w="967306">
                  <a:moveTo>
                    <a:pt x="842846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42846" y="0"/>
                  </a:lnTo>
                  <a:cubicBezTo>
                    <a:pt x="911426" y="0"/>
                    <a:pt x="967306" y="55880"/>
                    <a:pt x="967306" y="124460"/>
                  </a:cubicBezTo>
                  <a:lnTo>
                    <a:pt x="967306" y="1789430"/>
                  </a:lnTo>
                  <a:cubicBezTo>
                    <a:pt x="967306" y="1858010"/>
                    <a:pt x="911426" y="1913890"/>
                    <a:pt x="842846" y="1913890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761606" y="1028700"/>
            <a:ext cx="5943799" cy="8180826"/>
            <a:chOff x="0" y="0"/>
            <a:chExt cx="2168314" cy="2984388"/>
          </a:xfrm>
        </p:grpSpPr>
        <p:sp>
          <p:nvSpPr>
            <p:cNvPr name="Freeform 7" id="7"/>
            <p:cNvSpPr/>
            <p:nvPr/>
          </p:nvSpPr>
          <p:spPr>
            <a:xfrm>
              <a:off x="0" y="0"/>
              <a:ext cx="2168314" cy="2984388"/>
            </a:xfrm>
            <a:custGeom>
              <a:avLst/>
              <a:gdLst/>
              <a:ahLst/>
              <a:cxnLst/>
              <a:rect r="r" b="b" t="t" l="l"/>
              <a:pathLst>
                <a:path h="2984388" w="2168314">
                  <a:moveTo>
                    <a:pt x="0" y="0"/>
                  </a:moveTo>
                  <a:lnTo>
                    <a:pt x="2168314" y="0"/>
                  </a:lnTo>
                  <a:lnTo>
                    <a:pt x="2168314" y="2984388"/>
                  </a:lnTo>
                  <a:lnTo>
                    <a:pt x="0" y="2984388"/>
                  </a:lnTo>
                  <a:close/>
                </a:path>
              </a:pathLst>
            </a:custGeom>
            <a:solidFill>
              <a:srgbClr val="0E0E0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97143" y="1555901"/>
            <a:ext cx="239044" cy="23904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CB4F6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840206" y="1555901"/>
            <a:ext cx="239044" cy="23904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47C87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179152" y="1555901"/>
            <a:ext cx="239044" cy="23904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9A16"/>
            </a:solidFill>
          </p:spPr>
        </p:sp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true" flipV="false" rot="0">
            <a:off x="5375664" y="1405186"/>
            <a:ext cx="540474" cy="540474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6171088" y="1405186"/>
            <a:ext cx="540474" cy="540474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70817" y="4535229"/>
            <a:ext cx="491697" cy="478287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26040" y="2490041"/>
            <a:ext cx="485207" cy="468831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407408" y="5614572"/>
            <a:ext cx="528980" cy="408637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>
            <a:off x="1326040" y="3082122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0">
            <a:off x="1407408" y="5330553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277243" y="3458723"/>
            <a:ext cx="678845" cy="452975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7036108" y="1474714"/>
            <a:ext cx="2780383" cy="35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Project Background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75664" y="2445810"/>
            <a:ext cx="12337124" cy="134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0545"/>
              </a:lnSpc>
            </a:pPr>
            <a:r>
              <a:rPr lang="en-US" sz="9169">
                <a:solidFill>
                  <a:srgbClr val="0DFD81"/>
                </a:solidFill>
                <a:latin typeface="Garet ExtraBold"/>
              </a:rPr>
              <a:t>Problem Statement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375664" y="4767647"/>
            <a:ext cx="5124196" cy="2102489"/>
            <a:chOff x="0" y="0"/>
            <a:chExt cx="6832261" cy="2803318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711829" cy="2803318"/>
              <a:chOff x="0" y="0"/>
              <a:chExt cx="4582321" cy="1913890"/>
            </a:xfrm>
          </p:grpSpPr>
          <p:sp>
            <p:nvSpPr>
              <p:cNvPr name="Freeform 26" id="26"/>
              <p:cNvSpPr/>
              <p:nvPr/>
            </p:nvSpPr>
            <p:spPr>
              <a:xfrm>
                <a:off x="0" y="0"/>
                <a:ext cx="4582321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4582321">
                    <a:moveTo>
                      <a:pt x="4457860" y="1913890"/>
                    </a:moveTo>
                    <a:lnTo>
                      <a:pt x="124460" y="1913890"/>
                    </a:lnTo>
                    <a:cubicBezTo>
                      <a:pt x="55880" y="1913890"/>
                      <a:pt x="0" y="1858010"/>
                      <a:pt x="0" y="178943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4457861" y="0"/>
                    </a:lnTo>
                    <a:cubicBezTo>
                      <a:pt x="4526441" y="0"/>
                      <a:pt x="4582321" y="55880"/>
                      <a:pt x="4582321" y="124460"/>
                    </a:cubicBezTo>
                    <a:lnTo>
                      <a:pt x="4582321" y="1789430"/>
                    </a:lnTo>
                    <a:cubicBezTo>
                      <a:pt x="4582321" y="1858010"/>
                      <a:pt x="4526441" y="1913890"/>
                      <a:pt x="4457861" y="1913890"/>
                    </a:cubicBezTo>
                    <a:close/>
                  </a:path>
                </a:pathLst>
              </a:custGeom>
              <a:solidFill>
                <a:srgbClr val="1E1E1E"/>
              </a:solid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212390" y="152514"/>
              <a:ext cx="2416982" cy="1472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8590"/>
                </a:lnSpc>
              </a:pPr>
              <a:r>
                <a:rPr lang="en-US" sz="7470">
                  <a:solidFill>
                    <a:srgbClr val="CB4F69"/>
                  </a:solidFill>
                  <a:latin typeface="Garet ExtraBold"/>
                </a:rPr>
                <a:t>01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360316" y="1625460"/>
              <a:ext cx="318726" cy="318726"/>
              <a:chOff x="0" y="0"/>
              <a:chExt cx="6350000" cy="6350000"/>
            </a:xfrm>
          </p:grpSpPr>
          <p:sp>
            <p:nvSpPr>
              <p:cNvPr name="Freeform 29" id="2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21665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CB4F69"/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817733" y="1625460"/>
              <a:ext cx="318726" cy="318726"/>
              <a:chOff x="0" y="0"/>
              <a:chExt cx="6350000" cy="6350000"/>
            </a:xfrm>
          </p:grpSpPr>
          <p:sp>
            <p:nvSpPr>
              <p:cNvPr name="Freeform 31" id="31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21665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47C87E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1269660" y="1625460"/>
              <a:ext cx="318726" cy="318726"/>
              <a:chOff x="0" y="0"/>
              <a:chExt cx="6350000" cy="6350000"/>
            </a:xfrm>
          </p:grpSpPr>
          <p:sp>
            <p:nvSpPr>
              <p:cNvPr name="Freeform 33" id="33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21665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FF9A16"/>
              </a:solidFill>
            </p:spPr>
          </p:sp>
        </p:grpSp>
        <p:sp>
          <p:nvSpPr>
            <p:cNvPr name="TextBox 34" id="34"/>
            <p:cNvSpPr txBox="true"/>
            <p:nvPr/>
          </p:nvSpPr>
          <p:spPr>
            <a:xfrm rot="0">
              <a:off x="1939864" y="239828"/>
              <a:ext cx="4892396" cy="602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825"/>
                </a:lnSpc>
              </a:pPr>
              <a:r>
                <a:rPr lang="en-US" sz="2732">
                  <a:solidFill>
                    <a:srgbClr val="FFFFFF"/>
                  </a:solidFill>
                  <a:latin typeface="Garet Bold"/>
                </a:rPr>
                <a:t>Affecting Company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2213926" y="991005"/>
              <a:ext cx="4024619" cy="1409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2845"/>
                </a:lnSpc>
              </a:pPr>
              <a:r>
                <a:rPr lang="en-US" sz="2032">
                  <a:solidFill>
                    <a:srgbClr val="FFFFFF"/>
                  </a:solidFill>
                  <a:latin typeface="Garet"/>
                </a:rPr>
                <a:t>85% of employees actively disengaged at work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981631" y="4774372"/>
            <a:ext cx="5033872" cy="2102489"/>
            <a:chOff x="0" y="0"/>
            <a:chExt cx="6711829" cy="2803318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6711829" cy="2803318"/>
              <a:chOff x="0" y="0"/>
              <a:chExt cx="4582321" cy="1913890"/>
            </a:xfrm>
          </p:grpSpPr>
          <p:sp>
            <p:nvSpPr>
              <p:cNvPr name="Freeform 38" id="38"/>
              <p:cNvSpPr/>
              <p:nvPr/>
            </p:nvSpPr>
            <p:spPr>
              <a:xfrm>
                <a:off x="0" y="0"/>
                <a:ext cx="4582321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4582321">
                    <a:moveTo>
                      <a:pt x="4457860" y="1913890"/>
                    </a:moveTo>
                    <a:lnTo>
                      <a:pt x="124460" y="1913890"/>
                    </a:lnTo>
                    <a:cubicBezTo>
                      <a:pt x="55880" y="1913890"/>
                      <a:pt x="0" y="1858010"/>
                      <a:pt x="0" y="178943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4457861" y="0"/>
                    </a:lnTo>
                    <a:cubicBezTo>
                      <a:pt x="4526441" y="0"/>
                      <a:pt x="4582321" y="55880"/>
                      <a:pt x="4582321" y="124460"/>
                    </a:cubicBezTo>
                    <a:lnTo>
                      <a:pt x="4582321" y="1789430"/>
                    </a:lnTo>
                    <a:cubicBezTo>
                      <a:pt x="4582321" y="1858010"/>
                      <a:pt x="4526441" y="1913890"/>
                      <a:pt x="4457861" y="1913890"/>
                    </a:cubicBezTo>
                    <a:close/>
                  </a:path>
                </a:pathLst>
              </a:custGeom>
              <a:solidFill>
                <a:srgbClr val="1E1E1E"/>
              </a:solidFill>
            </p:spPr>
          </p:sp>
        </p:grpSp>
        <p:sp>
          <p:nvSpPr>
            <p:cNvPr name="TextBox 39" id="39"/>
            <p:cNvSpPr txBox="true"/>
            <p:nvPr/>
          </p:nvSpPr>
          <p:spPr>
            <a:xfrm rot="0">
              <a:off x="244828" y="278200"/>
              <a:ext cx="2416982" cy="1472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8590"/>
                </a:lnSpc>
              </a:pPr>
              <a:r>
                <a:rPr lang="en-US" sz="7470">
                  <a:solidFill>
                    <a:srgbClr val="CB4F69"/>
                  </a:solidFill>
                  <a:latin typeface="Garet ExtraBold"/>
                </a:rPr>
                <a:t>02</a:t>
              </a:r>
            </a:p>
          </p:txBody>
        </p:sp>
        <p:grpSp>
          <p:nvGrpSpPr>
            <p:cNvPr name="Group 40" id="40"/>
            <p:cNvGrpSpPr/>
            <p:nvPr/>
          </p:nvGrpSpPr>
          <p:grpSpPr>
            <a:xfrm rot="0">
              <a:off x="552570" y="1751146"/>
              <a:ext cx="318726" cy="318726"/>
              <a:chOff x="0" y="0"/>
              <a:chExt cx="6350000" cy="6350000"/>
            </a:xfrm>
          </p:grpSpPr>
          <p:sp>
            <p:nvSpPr>
              <p:cNvPr name="Freeform 41" id="41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21665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CB4F69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1009987" y="1751146"/>
              <a:ext cx="318726" cy="318726"/>
              <a:chOff x="0" y="0"/>
              <a:chExt cx="6350000" cy="6350000"/>
            </a:xfrm>
          </p:grpSpPr>
          <p:sp>
            <p:nvSpPr>
              <p:cNvPr name="Freeform 43" id="43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21665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47C87E"/>
              </a:solidFill>
            </p:spPr>
          </p:sp>
        </p:grpSp>
        <p:grpSp>
          <p:nvGrpSpPr>
            <p:cNvPr name="Group 44" id="44"/>
            <p:cNvGrpSpPr/>
            <p:nvPr/>
          </p:nvGrpSpPr>
          <p:grpSpPr>
            <a:xfrm rot="0">
              <a:off x="1461914" y="1751146"/>
              <a:ext cx="318726" cy="318726"/>
              <a:chOff x="0" y="0"/>
              <a:chExt cx="6350000" cy="6350000"/>
            </a:xfrm>
          </p:grpSpPr>
          <p:sp>
            <p:nvSpPr>
              <p:cNvPr name="Freeform 45" id="45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21665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FF9A16"/>
              </a:solidFill>
            </p:spPr>
          </p:sp>
        </p:grpSp>
        <p:sp>
          <p:nvSpPr>
            <p:cNvPr name="TextBox 46" id="46"/>
            <p:cNvSpPr txBox="true"/>
            <p:nvPr/>
          </p:nvSpPr>
          <p:spPr>
            <a:xfrm rot="0">
              <a:off x="2458393" y="296343"/>
              <a:ext cx="4024619" cy="602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825"/>
                </a:lnSpc>
              </a:pPr>
              <a:r>
                <a:rPr lang="en-US" sz="2732">
                  <a:solidFill>
                    <a:srgbClr val="FFFFFF"/>
                  </a:solidFill>
                  <a:latin typeface="Garet Bold"/>
                </a:rPr>
                <a:t>No Indicator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2458393" y="1047521"/>
              <a:ext cx="4024619" cy="1409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2845"/>
                </a:lnSpc>
              </a:pPr>
              <a:r>
                <a:rPr lang="en-US" sz="2032">
                  <a:solidFill>
                    <a:srgbClr val="FFFFFF"/>
                  </a:solidFill>
                  <a:latin typeface="Garet"/>
                </a:rPr>
                <a:t>Not knowing whether the employee is satisfied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2137959" y="2523748"/>
            <a:ext cx="1138442" cy="35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Home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064224" y="4458945"/>
            <a:ext cx="2017481" cy="7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CRISP-DM Methodology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079250" y="5620870"/>
            <a:ext cx="1787625" cy="34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Summary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064224" y="3305601"/>
            <a:ext cx="2017481" cy="7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Project Background</a:t>
            </a:r>
          </a:p>
        </p:txBody>
      </p:sp>
      <p:sp>
        <p:nvSpPr>
          <p:cNvPr name="AutoShape 52" id="52"/>
          <p:cNvSpPr/>
          <p:nvPr/>
        </p:nvSpPr>
        <p:spPr>
          <a:xfrm rot="0">
            <a:off x="1367232" y="4197269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3174" y="1028700"/>
            <a:ext cx="4134700" cy="8180826"/>
            <a:chOff x="0" y="0"/>
            <a:chExt cx="967306" cy="1913890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967306" cy="1913890"/>
            </a:xfrm>
            <a:custGeom>
              <a:avLst/>
              <a:gdLst/>
              <a:ahLst/>
              <a:cxnLst/>
              <a:rect r="r" b="b" t="t" l="l"/>
              <a:pathLst>
                <a:path h="1913890" w="967306">
                  <a:moveTo>
                    <a:pt x="842846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42846" y="0"/>
                  </a:lnTo>
                  <a:cubicBezTo>
                    <a:pt x="911426" y="0"/>
                    <a:pt x="967306" y="55880"/>
                    <a:pt x="967306" y="124460"/>
                  </a:cubicBezTo>
                  <a:lnTo>
                    <a:pt x="967306" y="1789430"/>
                  </a:lnTo>
                  <a:cubicBezTo>
                    <a:pt x="967306" y="1858010"/>
                    <a:pt x="911426" y="1913890"/>
                    <a:pt x="842846" y="1913890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61606" y="1028700"/>
            <a:ext cx="5943799" cy="8180826"/>
            <a:chOff x="0" y="0"/>
            <a:chExt cx="2168314" cy="2984388"/>
          </a:xfrm>
        </p:grpSpPr>
        <p:sp>
          <p:nvSpPr>
            <p:cNvPr name="Freeform 5" id="5"/>
            <p:cNvSpPr/>
            <p:nvPr/>
          </p:nvSpPr>
          <p:spPr>
            <a:xfrm>
              <a:off x="0" y="0"/>
              <a:ext cx="2168314" cy="2984388"/>
            </a:xfrm>
            <a:custGeom>
              <a:avLst/>
              <a:gdLst/>
              <a:ahLst/>
              <a:cxnLst/>
              <a:rect r="r" b="b" t="t" l="l"/>
              <a:pathLst>
                <a:path h="2984388" w="2168314">
                  <a:moveTo>
                    <a:pt x="0" y="0"/>
                  </a:moveTo>
                  <a:lnTo>
                    <a:pt x="2168314" y="0"/>
                  </a:lnTo>
                  <a:lnTo>
                    <a:pt x="2168314" y="2984388"/>
                  </a:lnTo>
                  <a:lnTo>
                    <a:pt x="0" y="2984388"/>
                  </a:lnTo>
                  <a:close/>
                </a:path>
              </a:pathLst>
            </a:custGeom>
            <a:solidFill>
              <a:srgbClr val="0E0E0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97143" y="1555901"/>
            <a:ext cx="239044" cy="239044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CB4F6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840206" y="1555901"/>
            <a:ext cx="239044" cy="23904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47C87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79152" y="1555901"/>
            <a:ext cx="239044" cy="23904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9A16"/>
            </a:solidFill>
          </p:spPr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true" flipV="false" rot="0">
            <a:off x="5375664" y="1405186"/>
            <a:ext cx="540474" cy="540474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6171088" y="1405186"/>
            <a:ext cx="540474" cy="540474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 rot="0">
            <a:off x="5375664" y="4111458"/>
            <a:ext cx="5033872" cy="2102489"/>
            <a:chOff x="0" y="0"/>
            <a:chExt cx="4582321" cy="1913890"/>
          </a:xfrm>
        </p:grpSpPr>
        <p:sp>
          <p:nvSpPr>
            <p:cNvPr name="Freeform 15" id="15"/>
            <p:cNvSpPr/>
            <p:nvPr/>
          </p:nvSpPr>
          <p:spPr>
            <a:xfrm>
              <a:off x="0" y="0"/>
              <a:ext cx="4582321" cy="1913890"/>
            </a:xfrm>
            <a:custGeom>
              <a:avLst/>
              <a:gdLst/>
              <a:ahLst/>
              <a:cxnLst/>
              <a:rect r="r" b="b" t="t" l="l"/>
              <a:pathLst>
                <a:path h="1913890" w="4582321">
                  <a:moveTo>
                    <a:pt x="445786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457861" y="0"/>
                  </a:lnTo>
                  <a:cubicBezTo>
                    <a:pt x="4526441" y="0"/>
                    <a:pt x="4582321" y="55880"/>
                    <a:pt x="4582321" y="124460"/>
                  </a:cubicBezTo>
                  <a:lnTo>
                    <a:pt x="4582321" y="1789430"/>
                  </a:lnTo>
                  <a:cubicBezTo>
                    <a:pt x="4582321" y="1858010"/>
                    <a:pt x="4526441" y="1913890"/>
                    <a:pt x="4457861" y="1913890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375664" y="6830140"/>
            <a:ext cx="5033872" cy="2102489"/>
            <a:chOff x="0" y="0"/>
            <a:chExt cx="4582321" cy="1913890"/>
          </a:xfrm>
        </p:grpSpPr>
        <p:sp>
          <p:nvSpPr>
            <p:cNvPr name="Freeform 17" id="17"/>
            <p:cNvSpPr/>
            <p:nvPr/>
          </p:nvSpPr>
          <p:spPr>
            <a:xfrm>
              <a:off x="0" y="0"/>
              <a:ext cx="4582321" cy="1913890"/>
            </a:xfrm>
            <a:custGeom>
              <a:avLst/>
              <a:gdLst/>
              <a:ahLst/>
              <a:cxnLst/>
              <a:rect r="r" b="b" t="t" l="l"/>
              <a:pathLst>
                <a:path h="1913890" w="4582321">
                  <a:moveTo>
                    <a:pt x="445786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457861" y="0"/>
                  </a:lnTo>
                  <a:cubicBezTo>
                    <a:pt x="4526441" y="0"/>
                    <a:pt x="4582321" y="55880"/>
                    <a:pt x="4582321" y="124460"/>
                  </a:cubicBezTo>
                  <a:lnTo>
                    <a:pt x="4582321" y="1789430"/>
                  </a:lnTo>
                  <a:cubicBezTo>
                    <a:pt x="4582321" y="1858010"/>
                    <a:pt x="4526441" y="1913890"/>
                    <a:pt x="4457861" y="1913890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374444" y="4017194"/>
            <a:ext cx="5033872" cy="2102489"/>
            <a:chOff x="0" y="0"/>
            <a:chExt cx="4582321" cy="1913890"/>
          </a:xfrm>
        </p:grpSpPr>
        <p:sp>
          <p:nvSpPr>
            <p:cNvPr name="Freeform 19" id="19"/>
            <p:cNvSpPr/>
            <p:nvPr/>
          </p:nvSpPr>
          <p:spPr>
            <a:xfrm>
              <a:off x="0" y="0"/>
              <a:ext cx="4582321" cy="1913890"/>
            </a:xfrm>
            <a:custGeom>
              <a:avLst/>
              <a:gdLst/>
              <a:ahLst/>
              <a:cxnLst/>
              <a:rect r="r" b="b" t="t" l="l"/>
              <a:pathLst>
                <a:path h="1913890" w="4582321">
                  <a:moveTo>
                    <a:pt x="445786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457861" y="0"/>
                  </a:lnTo>
                  <a:cubicBezTo>
                    <a:pt x="4526441" y="0"/>
                    <a:pt x="4582321" y="55880"/>
                    <a:pt x="4582321" y="124460"/>
                  </a:cubicBezTo>
                  <a:lnTo>
                    <a:pt x="4582321" y="1789430"/>
                  </a:lnTo>
                  <a:cubicBezTo>
                    <a:pt x="4582321" y="1858010"/>
                    <a:pt x="4526441" y="1913890"/>
                    <a:pt x="4457861" y="1913890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534957" y="4235369"/>
            <a:ext cx="1812737" cy="109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590"/>
              </a:lnSpc>
            </a:pPr>
            <a:r>
              <a:rPr lang="en-US" sz="7470">
                <a:solidFill>
                  <a:srgbClr val="CB4F69"/>
                </a:solidFill>
                <a:latin typeface="Garet Extra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58065" y="4235369"/>
            <a:ext cx="1812737" cy="109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590"/>
              </a:lnSpc>
            </a:pPr>
            <a:r>
              <a:rPr lang="en-US" sz="7470">
                <a:solidFill>
                  <a:srgbClr val="CB4F69"/>
                </a:solidFill>
                <a:latin typeface="Garet ExtraBold"/>
              </a:rPr>
              <a:t>02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645901" y="5330553"/>
            <a:ext cx="239044" cy="239044"/>
            <a:chOff x="0" y="0"/>
            <a:chExt cx="6350000" cy="6350000"/>
          </a:xfrm>
        </p:grpSpPr>
        <p:sp>
          <p:nvSpPr>
            <p:cNvPr name="Freeform 23" id="23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CB4F69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988964" y="5330553"/>
            <a:ext cx="239044" cy="239044"/>
            <a:chOff x="0" y="0"/>
            <a:chExt cx="6350000" cy="6350000"/>
          </a:xfrm>
        </p:grpSpPr>
        <p:sp>
          <p:nvSpPr>
            <p:cNvPr name="Freeform 25" id="25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47C87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327909" y="5330553"/>
            <a:ext cx="239044" cy="239044"/>
            <a:chOff x="0" y="0"/>
            <a:chExt cx="6350000" cy="6350000"/>
          </a:xfrm>
        </p:grpSpPr>
        <p:sp>
          <p:nvSpPr>
            <p:cNvPr name="Freeform 27" id="2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9A1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788871" y="5330553"/>
            <a:ext cx="239044" cy="239044"/>
            <a:chOff x="0" y="0"/>
            <a:chExt cx="6350000" cy="6350000"/>
          </a:xfrm>
        </p:grpSpPr>
        <p:sp>
          <p:nvSpPr>
            <p:cNvPr name="Freeform 29" id="29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CB4F69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131934" y="5330553"/>
            <a:ext cx="239044" cy="239044"/>
            <a:chOff x="0" y="0"/>
            <a:chExt cx="6350000" cy="6350000"/>
          </a:xfrm>
        </p:grpSpPr>
        <p:sp>
          <p:nvSpPr>
            <p:cNvPr name="Freeform 31" id="31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47C87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470880" y="5330553"/>
            <a:ext cx="239044" cy="239044"/>
            <a:chOff x="0" y="0"/>
            <a:chExt cx="6350000" cy="6350000"/>
          </a:xfrm>
        </p:grpSpPr>
        <p:sp>
          <p:nvSpPr>
            <p:cNvPr name="Freeform 33" id="33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9A1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710562" y="8034036"/>
            <a:ext cx="239044" cy="239044"/>
            <a:chOff x="0" y="0"/>
            <a:chExt cx="6350000" cy="6350000"/>
          </a:xfrm>
        </p:grpSpPr>
        <p:sp>
          <p:nvSpPr>
            <p:cNvPr name="Freeform 35" id="35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CB4F69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053625" y="8034036"/>
            <a:ext cx="239044" cy="239044"/>
            <a:chOff x="0" y="0"/>
            <a:chExt cx="6350000" cy="6350000"/>
          </a:xfrm>
        </p:grpSpPr>
        <p:sp>
          <p:nvSpPr>
            <p:cNvPr name="Freeform 37" id="3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47C87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392570" y="8034036"/>
            <a:ext cx="239044" cy="239044"/>
            <a:chOff x="0" y="0"/>
            <a:chExt cx="6350000" cy="6350000"/>
          </a:xfrm>
        </p:grpSpPr>
        <p:sp>
          <p:nvSpPr>
            <p:cNvPr name="Freeform 39" id="39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9A16"/>
            </a:solidFill>
          </p:spPr>
        </p:sp>
      </p:grpSp>
      <p:pic>
        <p:nvPicPr>
          <p:cNvPr name="Picture 40" id="4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70817" y="4535229"/>
            <a:ext cx="491697" cy="478287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26040" y="2490041"/>
            <a:ext cx="485207" cy="468831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407408" y="5614572"/>
            <a:ext cx="528980" cy="408637"/>
          </a:xfrm>
          <a:prstGeom prst="rect">
            <a:avLst/>
          </a:prstGeom>
        </p:spPr>
      </p:pic>
      <p:sp>
        <p:nvSpPr>
          <p:cNvPr name="AutoShape 43" id="43"/>
          <p:cNvSpPr/>
          <p:nvPr/>
        </p:nvSpPr>
        <p:spPr>
          <a:xfrm rot="0">
            <a:off x="1326040" y="3082122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rot="0">
            <a:off x="1407408" y="5330553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45" id="4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277243" y="3458723"/>
            <a:ext cx="678845" cy="452975"/>
          </a:xfrm>
          <a:prstGeom prst="rect">
            <a:avLst/>
          </a:prstGeom>
        </p:spPr>
      </p:pic>
      <p:sp>
        <p:nvSpPr>
          <p:cNvPr name="TextBox 46" id="46"/>
          <p:cNvSpPr txBox="true"/>
          <p:nvPr/>
        </p:nvSpPr>
        <p:spPr>
          <a:xfrm rot="0">
            <a:off x="7036108" y="1474714"/>
            <a:ext cx="2780383" cy="35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Project Background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375664" y="2445810"/>
            <a:ext cx="11206240" cy="134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0545"/>
              </a:lnSpc>
            </a:pPr>
            <a:r>
              <a:rPr lang="en-US" sz="9169">
                <a:solidFill>
                  <a:srgbClr val="0DFD81"/>
                </a:solidFill>
                <a:latin typeface="Garet ExtraBold"/>
              </a:rPr>
              <a:t>Objectives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534957" y="6933624"/>
            <a:ext cx="1812737" cy="109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590"/>
              </a:lnSpc>
            </a:pPr>
            <a:r>
              <a:rPr lang="en-US" sz="7470">
                <a:solidFill>
                  <a:srgbClr val="CB4F69"/>
                </a:solidFill>
                <a:latin typeface="Garet ExtraBold"/>
              </a:rPr>
              <a:t>03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036108" y="4149644"/>
            <a:ext cx="3018464" cy="192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825"/>
              </a:lnSpc>
            </a:pPr>
            <a:r>
              <a:rPr lang="en-US" sz="2732">
                <a:solidFill>
                  <a:srgbClr val="FFFFFF"/>
                </a:solidFill>
                <a:latin typeface="Garet Bold"/>
              </a:rPr>
              <a:t>To develop a suitable model in predicting job satisfaction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218239" y="4377532"/>
            <a:ext cx="3250554" cy="1435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825"/>
              </a:lnSpc>
            </a:pPr>
            <a:r>
              <a:rPr lang="en-US" sz="2732">
                <a:solidFill>
                  <a:srgbClr val="FFFFFF"/>
                </a:solidFill>
                <a:latin typeface="Garet Bold"/>
              </a:rPr>
              <a:t>To evaluate accuracy of the model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137959" y="2523748"/>
            <a:ext cx="1138442" cy="35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Home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064224" y="4458945"/>
            <a:ext cx="2017481" cy="7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CRISP-DM Methodology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079250" y="5620870"/>
            <a:ext cx="1787625" cy="34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Summary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064224" y="3305601"/>
            <a:ext cx="2017481" cy="7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Project Background</a:t>
            </a:r>
          </a:p>
        </p:txBody>
      </p:sp>
      <p:sp>
        <p:nvSpPr>
          <p:cNvPr name="AutoShape 55" id="55"/>
          <p:cNvSpPr/>
          <p:nvPr/>
        </p:nvSpPr>
        <p:spPr>
          <a:xfrm rot="0">
            <a:off x="1367232" y="4197269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6" id="56"/>
          <p:cNvSpPr txBox="true"/>
          <p:nvPr/>
        </p:nvSpPr>
        <p:spPr>
          <a:xfrm rot="0">
            <a:off x="6930964" y="6917052"/>
            <a:ext cx="3595755" cy="192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825"/>
              </a:lnSpc>
            </a:pPr>
            <a:r>
              <a:rPr lang="en-US" sz="2732">
                <a:solidFill>
                  <a:srgbClr val="FFFFFF"/>
                </a:solidFill>
                <a:latin typeface="Garet Bold"/>
              </a:rPr>
              <a:t>To identify attrributes that significantly affect job satisfaction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3174" y="1028700"/>
            <a:ext cx="16296126" cy="8180826"/>
            <a:chOff x="0" y="0"/>
            <a:chExt cx="3812450" cy="1913890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3812450" cy="1913890"/>
            </a:xfrm>
            <a:custGeom>
              <a:avLst/>
              <a:gdLst/>
              <a:ahLst/>
              <a:cxnLst/>
              <a:rect r="r" b="b" t="t" l="l"/>
              <a:pathLst>
                <a:path h="1913890" w="3812450">
                  <a:moveTo>
                    <a:pt x="368799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687990" y="0"/>
                  </a:lnTo>
                  <a:cubicBezTo>
                    <a:pt x="3756570" y="0"/>
                    <a:pt x="3812450" y="55880"/>
                    <a:pt x="3812450" y="124460"/>
                  </a:cubicBezTo>
                  <a:lnTo>
                    <a:pt x="3812450" y="1789430"/>
                  </a:lnTo>
                  <a:cubicBezTo>
                    <a:pt x="3812450" y="1858010"/>
                    <a:pt x="3756570" y="1913890"/>
                    <a:pt x="3687990" y="1913890"/>
                  </a:cubicBezTo>
                  <a:close/>
                </a:path>
              </a:pathLst>
            </a:custGeom>
            <a:solidFill>
              <a:srgbClr val="0E0E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3174" y="1028700"/>
            <a:ext cx="4134700" cy="8180826"/>
            <a:chOff x="0" y="0"/>
            <a:chExt cx="967306" cy="1913890"/>
          </a:xfrm>
        </p:grpSpPr>
        <p:sp>
          <p:nvSpPr>
            <p:cNvPr name="Freeform 5" id="5"/>
            <p:cNvSpPr/>
            <p:nvPr/>
          </p:nvSpPr>
          <p:spPr>
            <a:xfrm>
              <a:off x="0" y="0"/>
              <a:ext cx="967306" cy="1913890"/>
            </a:xfrm>
            <a:custGeom>
              <a:avLst/>
              <a:gdLst/>
              <a:ahLst/>
              <a:cxnLst/>
              <a:rect r="r" b="b" t="t" l="l"/>
              <a:pathLst>
                <a:path h="1913890" w="967306">
                  <a:moveTo>
                    <a:pt x="842846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42846" y="0"/>
                  </a:lnTo>
                  <a:cubicBezTo>
                    <a:pt x="911426" y="0"/>
                    <a:pt x="967306" y="55880"/>
                    <a:pt x="967306" y="124460"/>
                  </a:cubicBezTo>
                  <a:lnTo>
                    <a:pt x="967306" y="1789430"/>
                  </a:lnTo>
                  <a:cubicBezTo>
                    <a:pt x="967306" y="1858010"/>
                    <a:pt x="911426" y="1913890"/>
                    <a:pt x="842846" y="1913890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761606" y="1028700"/>
            <a:ext cx="5943799" cy="8180826"/>
            <a:chOff x="0" y="0"/>
            <a:chExt cx="2168314" cy="2984388"/>
          </a:xfrm>
        </p:grpSpPr>
        <p:sp>
          <p:nvSpPr>
            <p:cNvPr name="Freeform 7" id="7"/>
            <p:cNvSpPr/>
            <p:nvPr/>
          </p:nvSpPr>
          <p:spPr>
            <a:xfrm>
              <a:off x="0" y="0"/>
              <a:ext cx="2168314" cy="2984388"/>
            </a:xfrm>
            <a:custGeom>
              <a:avLst/>
              <a:gdLst/>
              <a:ahLst/>
              <a:cxnLst/>
              <a:rect r="r" b="b" t="t" l="l"/>
              <a:pathLst>
                <a:path h="2984388" w="2168314">
                  <a:moveTo>
                    <a:pt x="0" y="0"/>
                  </a:moveTo>
                  <a:lnTo>
                    <a:pt x="2168314" y="0"/>
                  </a:lnTo>
                  <a:lnTo>
                    <a:pt x="2168314" y="2984388"/>
                  </a:lnTo>
                  <a:lnTo>
                    <a:pt x="0" y="2984388"/>
                  </a:lnTo>
                  <a:close/>
                </a:path>
              </a:pathLst>
            </a:custGeom>
            <a:solidFill>
              <a:srgbClr val="0E0E0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97143" y="1555901"/>
            <a:ext cx="239044" cy="23904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CB4F6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840206" y="1555901"/>
            <a:ext cx="239044" cy="23904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47C87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179152" y="1555901"/>
            <a:ext cx="239044" cy="23904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9A16"/>
            </a:solidFill>
          </p:spPr>
        </p:sp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true" flipV="false" rot="0">
            <a:off x="5375664" y="1405186"/>
            <a:ext cx="540474" cy="540474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6171088" y="1405186"/>
            <a:ext cx="540474" cy="540474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70817" y="4535229"/>
            <a:ext cx="491697" cy="478287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26040" y="2490041"/>
            <a:ext cx="485207" cy="468831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407408" y="5614572"/>
            <a:ext cx="528980" cy="408637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>
            <a:off x="1326040" y="3082122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0">
            <a:off x="1407408" y="5330553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277243" y="3458723"/>
            <a:ext cx="678845" cy="452975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7036108" y="1474714"/>
            <a:ext cx="2451803" cy="35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Methodology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75664" y="2445810"/>
            <a:ext cx="11206240" cy="134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0545"/>
              </a:lnSpc>
            </a:pPr>
            <a:r>
              <a:rPr lang="en-US" sz="9169">
                <a:solidFill>
                  <a:srgbClr val="0DFD81"/>
                </a:solidFill>
                <a:latin typeface="Garet ExtraBold"/>
              </a:rPr>
              <a:t>CRISP-DM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297898" y="3789912"/>
            <a:ext cx="5033872" cy="1707433"/>
            <a:chOff x="0" y="0"/>
            <a:chExt cx="6711829" cy="2276577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711829" cy="2276577"/>
              <a:chOff x="0" y="0"/>
              <a:chExt cx="4582321" cy="1554272"/>
            </a:xfrm>
          </p:grpSpPr>
          <p:sp>
            <p:nvSpPr>
              <p:cNvPr name="Freeform 26" id="26"/>
              <p:cNvSpPr/>
              <p:nvPr/>
            </p:nvSpPr>
            <p:spPr>
              <a:xfrm>
                <a:off x="0" y="0"/>
                <a:ext cx="4582321" cy="1554272"/>
              </a:xfrm>
              <a:custGeom>
                <a:avLst/>
                <a:gdLst/>
                <a:ahLst/>
                <a:cxnLst/>
                <a:rect r="r" b="b" t="t" l="l"/>
                <a:pathLst>
                  <a:path h="1554272" w="4582321">
                    <a:moveTo>
                      <a:pt x="4457860" y="1554272"/>
                    </a:moveTo>
                    <a:lnTo>
                      <a:pt x="124460" y="1554272"/>
                    </a:lnTo>
                    <a:cubicBezTo>
                      <a:pt x="55880" y="1554272"/>
                      <a:pt x="0" y="1498392"/>
                      <a:pt x="0" y="1429812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4457861" y="0"/>
                    </a:lnTo>
                    <a:cubicBezTo>
                      <a:pt x="4526441" y="0"/>
                      <a:pt x="4582321" y="55880"/>
                      <a:pt x="4582321" y="124460"/>
                    </a:cubicBezTo>
                    <a:lnTo>
                      <a:pt x="4582321" y="1429812"/>
                    </a:lnTo>
                    <a:cubicBezTo>
                      <a:pt x="4582321" y="1498392"/>
                      <a:pt x="4526441" y="1554272"/>
                      <a:pt x="4457861" y="1554272"/>
                    </a:cubicBezTo>
                    <a:close/>
                  </a:path>
                </a:pathLst>
              </a:custGeom>
              <a:solidFill>
                <a:srgbClr val="1E1E1E"/>
              </a:solid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212390" y="152514"/>
              <a:ext cx="2416982" cy="1472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8590"/>
                </a:lnSpc>
              </a:pPr>
              <a:r>
                <a:rPr lang="en-US" sz="7470">
                  <a:solidFill>
                    <a:srgbClr val="CB4F69"/>
                  </a:solidFill>
                  <a:latin typeface="Garet ExtraBold"/>
                </a:rPr>
                <a:t>01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360316" y="1625460"/>
              <a:ext cx="318726" cy="318726"/>
              <a:chOff x="0" y="0"/>
              <a:chExt cx="6350000" cy="6350000"/>
            </a:xfrm>
          </p:grpSpPr>
          <p:sp>
            <p:nvSpPr>
              <p:cNvPr name="Freeform 29" id="2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21665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CB4F69"/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817733" y="1625460"/>
              <a:ext cx="318726" cy="318726"/>
              <a:chOff x="0" y="0"/>
              <a:chExt cx="6350000" cy="6350000"/>
            </a:xfrm>
          </p:grpSpPr>
          <p:sp>
            <p:nvSpPr>
              <p:cNvPr name="Freeform 31" id="31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21665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47C87E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1269660" y="1625460"/>
              <a:ext cx="318726" cy="318726"/>
              <a:chOff x="0" y="0"/>
              <a:chExt cx="6350000" cy="6350000"/>
            </a:xfrm>
          </p:grpSpPr>
          <p:sp>
            <p:nvSpPr>
              <p:cNvPr name="Freeform 33" id="33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21665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FF9A16"/>
              </a:solidFill>
            </p:spPr>
          </p:sp>
        </p:grpSp>
        <p:sp>
          <p:nvSpPr>
            <p:cNvPr name="TextBox 34" id="34"/>
            <p:cNvSpPr txBox="true"/>
            <p:nvPr/>
          </p:nvSpPr>
          <p:spPr>
            <a:xfrm rot="0">
              <a:off x="2213926" y="239828"/>
              <a:ext cx="4024619" cy="1250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825"/>
                </a:lnSpc>
              </a:pPr>
              <a:r>
                <a:rPr lang="en-US" sz="2732">
                  <a:solidFill>
                    <a:srgbClr val="FFFFFF"/>
                  </a:solidFill>
                  <a:latin typeface="Garet Bold"/>
                </a:rPr>
                <a:t>Business Understanding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978784" y="3742780"/>
            <a:ext cx="5033872" cy="1754565"/>
            <a:chOff x="0" y="0"/>
            <a:chExt cx="4582321" cy="1597176"/>
          </a:xfrm>
        </p:grpSpPr>
        <p:sp>
          <p:nvSpPr>
            <p:cNvPr name="Freeform 36" id="36"/>
            <p:cNvSpPr/>
            <p:nvPr/>
          </p:nvSpPr>
          <p:spPr>
            <a:xfrm>
              <a:off x="0" y="0"/>
              <a:ext cx="4582321" cy="1597176"/>
            </a:xfrm>
            <a:custGeom>
              <a:avLst/>
              <a:gdLst/>
              <a:ahLst/>
              <a:cxnLst/>
              <a:rect r="r" b="b" t="t" l="l"/>
              <a:pathLst>
                <a:path h="1597176" w="4582321">
                  <a:moveTo>
                    <a:pt x="4457860" y="1597176"/>
                  </a:moveTo>
                  <a:lnTo>
                    <a:pt x="124460" y="1597176"/>
                  </a:lnTo>
                  <a:cubicBezTo>
                    <a:pt x="55880" y="1597176"/>
                    <a:pt x="0" y="1541296"/>
                    <a:pt x="0" y="147271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457861" y="0"/>
                  </a:lnTo>
                  <a:cubicBezTo>
                    <a:pt x="4526441" y="0"/>
                    <a:pt x="4582321" y="55880"/>
                    <a:pt x="4582321" y="124460"/>
                  </a:cubicBezTo>
                  <a:lnTo>
                    <a:pt x="4582321" y="1472716"/>
                  </a:lnTo>
                  <a:cubicBezTo>
                    <a:pt x="4582321" y="1541296"/>
                    <a:pt x="4526441" y="1597176"/>
                    <a:pt x="4457861" y="1597176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162405" y="3960955"/>
            <a:ext cx="1812737" cy="109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590"/>
              </a:lnSpc>
            </a:pPr>
            <a:r>
              <a:rPr lang="en-US" sz="7470">
                <a:solidFill>
                  <a:srgbClr val="CB4F69"/>
                </a:solidFill>
                <a:latin typeface="Garet ExtraBold"/>
              </a:rPr>
              <a:t>02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1393211" y="5056140"/>
            <a:ext cx="239044" cy="239044"/>
            <a:chOff x="0" y="0"/>
            <a:chExt cx="6350000" cy="6350000"/>
          </a:xfrm>
        </p:grpSpPr>
        <p:sp>
          <p:nvSpPr>
            <p:cNvPr name="Freeform 39" id="39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CB4F69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736274" y="5056140"/>
            <a:ext cx="239044" cy="239044"/>
            <a:chOff x="0" y="0"/>
            <a:chExt cx="6350000" cy="6350000"/>
          </a:xfrm>
        </p:grpSpPr>
        <p:sp>
          <p:nvSpPr>
            <p:cNvPr name="Freeform 41" id="41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47C87E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075220" y="5056140"/>
            <a:ext cx="239044" cy="239044"/>
            <a:chOff x="0" y="0"/>
            <a:chExt cx="6350000" cy="6350000"/>
          </a:xfrm>
        </p:grpSpPr>
        <p:sp>
          <p:nvSpPr>
            <p:cNvPr name="Freeform 43" id="43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9A16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2822579" y="3953132"/>
            <a:ext cx="3018464" cy="94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825"/>
              </a:lnSpc>
            </a:pPr>
            <a:r>
              <a:rPr lang="en-US" sz="2732">
                <a:solidFill>
                  <a:srgbClr val="FFFFFF"/>
                </a:solidFill>
                <a:latin typeface="Garet Bold"/>
              </a:rPr>
              <a:t>Data Understanding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5297898" y="5668495"/>
            <a:ext cx="5033872" cy="1617455"/>
            <a:chOff x="0" y="0"/>
            <a:chExt cx="6711829" cy="2156607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6711829" cy="2156607"/>
              <a:chOff x="0" y="0"/>
              <a:chExt cx="4582321" cy="1472365"/>
            </a:xfrm>
          </p:grpSpPr>
          <p:sp>
            <p:nvSpPr>
              <p:cNvPr name="Freeform 47" id="47"/>
              <p:cNvSpPr/>
              <p:nvPr/>
            </p:nvSpPr>
            <p:spPr>
              <a:xfrm>
                <a:off x="0" y="0"/>
                <a:ext cx="4582321" cy="1472365"/>
              </a:xfrm>
              <a:custGeom>
                <a:avLst/>
                <a:gdLst/>
                <a:ahLst/>
                <a:cxnLst/>
                <a:rect r="r" b="b" t="t" l="l"/>
                <a:pathLst>
                  <a:path h="1472365" w="4582321">
                    <a:moveTo>
                      <a:pt x="4457860" y="1472365"/>
                    </a:moveTo>
                    <a:lnTo>
                      <a:pt x="124460" y="1472365"/>
                    </a:lnTo>
                    <a:cubicBezTo>
                      <a:pt x="55880" y="1472365"/>
                      <a:pt x="0" y="1416485"/>
                      <a:pt x="0" y="134790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4457861" y="0"/>
                    </a:lnTo>
                    <a:cubicBezTo>
                      <a:pt x="4526441" y="0"/>
                      <a:pt x="4582321" y="55880"/>
                      <a:pt x="4582321" y="124460"/>
                    </a:cubicBezTo>
                    <a:lnTo>
                      <a:pt x="4582321" y="1347905"/>
                    </a:lnTo>
                    <a:cubicBezTo>
                      <a:pt x="4582321" y="1416485"/>
                      <a:pt x="4526441" y="1472365"/>
                      <a:pt x="4457861" y="1472365"/>
                    </a:cubicBezTo>
                    <a:close/>
                  </a:path>
                </a:pathLst>
              </a:custGeom>
              <a:solidFill>
                <a:srgbClr val="1E1E1E"/>
              </a:solidFill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446530" y="1605195"/>
              <a:ext cx="318726" cy="318726"/>
              <a:chOff x="0" y="0"/>
              <a:chExt cx="6350000" cy="6350000"/>
            </a:xfrm>
          </p:grpSpPr>
          <p:sp>
            <p:nvSpPr>
              <p:cNvPr name="Freeform 49" id="4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21665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CB4F69"/>
              </a:solidFill>
            </p:spPr>
          </p:sp>
        </p:grpSp>
        <p:grpSp>
          <p:nvGrpSpPr>
            <p:cNvPr name="Group 50" id="50"/>
            <p:cNvGrpSpPr/>
            <p:nvPr/>
          </p:nvGrpSpPr>
          <p:grpSpPr>
            <a:xfrm rot="0">
              <a:off x="903947" y="1605195"/>
              <a:ext cx="318726" cy="318726"/>
              <a:chOff x="0" y="0"/>
              <a:chExt cx="6350000" cy="6350000"/>
            </a:xfrm>
          </p:grpSpPr>
          <p:sp>
            <p:nvSpPr>
              <p:cNvPr name="Freeform 51" id="51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21665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47C87E"/>
              </a:solidFill>
            </p:spPr>
          </p:sp>
        </p:grpSp>
        <p:grpSp>
          <p:nvGrpSpPr>
            <p:cNvPr name="Group 52" id="52"/>
            <p:cNvGrpSpPr/>
            <p:nvPr/>
          </p:nvGrpSpPr>
          <p:grpSpPr>
            <a:xfrm rot="0">
              <a:off x="1355875" y="1605195"/>
              <a:ext cx="318726" cy="318726"/>
              <a:chOff x="0" y="0"/>
              <a:chExt cx="6350000" cy="6350000"/>
            </a:xfrm>
          </p:grpSpPr>
          <p:sp>
            <p:nvSpPr>
              <p:cNvPr name="Freeform 53" id="53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21665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FF9A16"/>
              </a:solidFill>
            </p:spPr>
          </p:sp>
        </p:grpSp>
        <p:sp>
          <p:nvSpPr>
            <p:cNvPr name="TextBox 54" id="54"/>
            <p:cNvSpPr txBox="true"/>
            <p:nvPr/>
          </p:nvSpPr>
          <p:spPr>
            <a:xfrm rot="0">
              <a:off x="212390" y="125279"/>
              <a:ext cx="2416982" cy="1472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8590"/>
                </a:lnSpc>
              </a:pPr>
              <a:r>
                <a:rPr lang="en-US" sz="7470">
                  <a:solidFill>
                    <a:srgbClr val="CB4F69"/>
                  </a:solidFill>
                  <a:latin typeface="Garet ExtraBold"/>
                </a:rPr>
                <a:t>03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2213926" y="239828"/>
              <a:ext cx="4344274" cy="602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825"/>
                </a:lnSpc>
              </a:pPr>
              <a:r>
                <a:rPr lang="en-US" sz="2732">
                  <a:solidFill>
                    <a:srgbClr val="FFFFFF"/>
                  </a:solidFill>
                  <a:latin typeface="Garet Bold"/>
                </a:rPr>
                <a:t>Data Preparation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978784" y="5645079"/>
            <a:ext cx="5033872" cy="1640871"/>
            <a:chOff x="0" y="0"/>
            <a:chExt cx="4582321" cy="1493681"/>
          </a:xfrm>
        </p:grpSpPr>
        <p:sp>
          <p:nvSpPr>
            <p:cNvPr name="Freeform 57" id="57"/>
            <p:cNvSpPr/>
            <p:nvPr/>
          </p:nvSpPr>
          <p:spPr>
            <a:xfrm>
              <a:off x="0" y="0"/>
              <a:ext cx="4582321" cy="1493681"/>
            </a:xfrm>
            <a:custGeom>
              <a:avLst/>
              <a:gdLst/>
              <a:ahLst/>
              <a:cxnLst/>
              <a:rect r="r" b="b" t="t" l="l"/>
              <a:pathLst>
                <a:path h="1493681" w="4582321">
                  <a:moveTo>
                    <a:pt x="4457860" y="1493681"/>
                  </a:moveTo>
                  <a:lnTo>
                    <a:pt x="124460" y="1493681"/>
                  </a:lnTo>
                  <a:cubicBezTo>
                    <a:pt x="55880" y="1493681"/>
                    <a:pt x="0" y="1437801"/>
                    <a:pt x="0" y="136922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457861" y="0"/>
                  </a:lnTo>
                  <a:cubicBezTo>
                    <a:pt x="4526441" y="0"/>
                    <a:pt x="4582321" y="55880"/>
                    <a:pt x="4582321" y="124460"/>
                  </a:cubicBezTo>
                  <a:lnTo>
                    <a:pt x="4582321" y="1369221"/>
                  </a:lnTo>
                  <a:cubicBezTo>
                    <a:pt x="4582321" y="1437801"/>
                    <a:pt x="4526441" y="1493681"/>
                    <a:pt x="4457861" y="1493681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393211" y="6943239"/>
            <a:ext cx="239044" cy="239044"/>
            <a:chOff x="0" y="0"/>
            <a:chExt cx="6350000" cy="6350000"/>
          </a:xfrm>
        </p:grpSpPr>
        <p:sp>
          <p:nvSpPr>
            <p:cNvPr name="Freeform 59" id="59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CB4F69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736274" y="6943239"/>
            <a:ext cx="239044" cy="239044"/>
            <a:chOff x="0" y="0"/>
            <a:chExt cx="6350000" cy="6350000"/>
          </a:xfrm>
        </p:grpSpPr>
        <p:sp>
          <p:nvSpPr>
            <p:cNvPr name="Freeform 61" id="61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47C87E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075220" y="6943239"/>
            <a:ext cx="239044" cy="239044"/>
            <a:chOff x="0" y="0"/>
            <a:chExt cx="6350000" cy="6350000"/>
          </a:xfrm>
        </p:grpSpPr>
        <p:sp>
          <p:nvSpPr>
            <p:cNvPr name="Freeform 63" id="63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9A16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11162405" y="5842827"/>
            <a:ext cx="1812737" cy="109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590"/>
              </a:lnSpc>
            </a:pPr>
            <a:r>
              <a:rPr lang="en-US" sz="7470">
                <a:solidFill>
                  <a:srgbClr val="CB4F69"/>
                </a:solidFill>
                <a:latin typeface="Garet ExtraBold"/>
              </a:rPr>
              <a:t>04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822579" y="5757102"/>
            <a:ext cx="3018464" cy="463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825"/>
              </a:lnSpc>
            </a:pPr>
            <a:r>
              <a:rPr lang="en-US" sz="2732">
                <a:solidFill>
                  <a:srgbClr val="FFFFFF"/>
                </a:solidFill>
                <a:latin typeface="Garet Bold"/>
              </a:rPr>
              <a:t>Modelling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137959" y="2523748"/>
            <a:ext cx="1138442" cy="35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Home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064224" y="4458945"/>
            <a:ext cx="2017481" cy="7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CRISP-DM Methodology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079250" y="5620870"/>
            <a:ext cx="1787625" cy="34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Summary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064224" y="3305601"/>
            <a:ext cx="2017481" cy="7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Project Background</a:t>
            </a:r>
          </a:p>
        </p:txBody>
      </p:sp>
      <p:sp>
        <p:nvSpPr>
          <p:cNvPr name="AutoShape 70" id="70"/>
          <p:cNvSpPr/>
          <p:nvPr/>
        </p:nvSpPr>
        <p:spPr>
          <a:xfrm rot="0">
            <a:off x="1367232" y="4197269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1" id="71"/>
          <p:cNvGrpSpPr/>
          <p:nvPr/>
        </p:nvGrpSpPr>
        <p:grpSpPr>
          <a:xfrm rot="0">
            <a:off x="5297898" y="7457400"/>
            <a:ext cx="5033872" cy="1617455"/>
            <a:chOff x="0" y="0"/>
            <a:chExt cx="6711829" cy="2156607"/>
          </a:xfrm>
        </p:grpSpPr>
        <p:grpSp>
          <p:nvGrpSpPr>
            <p:cNvPr name="Group 72" id="72"/>
            <p:cNvGrpSpPr/>
            <p:nvPr/>
          </p:nvGrpSpPr>
          <p:grpSpPr>
            <a:xfrm rot="0">
              <a:off x="0" y="0"/>
              <a:ext cx="6711829" cy="2156607"/>
              <a:chOff x="0" y="0"/>
              <a:chExt cx="4582321" cy="1472365"/>
            </a:xfrm>
          </p:grpSpPr>
          <p:sp>
            <p:nvSpPr>
              <p:cNvPr name="Freeform 73" id="73"/>
              <p:cNvSpPr/>
              <p:nvPr/>
            </p:nvSpPr>
            <p:spPr>
              <a:xfrm>
                <a:off x="0" y="0"/>
                <a:ext cx="4582321" cy="1472365"/>
              </a:xfrm>
              <a:custGeom>
                <a:avLst/>
                <a:gdLst/>
                <a:ahLst/>
                <a:cxnLst/>
                <a:rect r="r" b="b" t="t" l="l"/>
                <a:pathLst>
                  <a:path h="1472365" w="4582321">
                    <a:moveTo>
                      <a:pt x="4457860" y="1472365"/>
                    </a:moveTo>
                    <a:lnTo>
                      <a:pt x="124460" y="1472365"/>
                    </a:lnTo>
                    <a:cubicBezTo>
                      <a:pt x="55880" y="1472365"/>
                      <a:pt x="0" y="1416485"/>
                      <a:pt x="0" y="134790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4457861" y="0"/>
                    </a:lnTo>
                    <a:cubicBezTo>
                      <a:pt x="4526441" y="0"/>
                      <a:pt x="4582321" y="55880"/>
                      <a:pt x="4582321" y="124460"/>
                    </a:cubicBezTo>
                    <a:lnTo>
                      <a:pt x="4582321" y="1347905"/>
                    </a:lnTo>
                    <a:cubicBezTo>
                      <a:pt x="4582321" y="1416485"/>
                      <a:pt x="4526441" y="1472365"/>
                      <a:pt x="4457861" y="1472365"/>
                    </a:cubicBezTo>
                    <a:close/>
                  </a:path>
                </a:pathLst>
              </a:custGeom>
              <a:solidFill>
                <a:srgbClr val="1E1E1E"/>
              </a:solidFill>
            </p:spPr>
          </p:sp>
        </p:grpSp>
        <p:grpSp>
          <p:nvGrpSpPr>
            <p:cNvPr name="Group 74" id="74"/>
            <p:cNvGrpSpPr/>
            <p:nvPr/>
          </p:nvGrpSpPr>
          <p:grpSpPr>
            <a:xfrm rot="0">
              <a:off x="446530" y="1605195"/>
              <a:ext cx="318726" cy="318726"/>
              <a:chOff x="0" y="0"/>
              <a:chExt cx="6350000" cy="6350000"/>
            </a:xfrm>
          </p:grpSpPr>
          <p:sp>
            <p:nvSpPr>
              <p:cNvPr name="Freeform 75" id="75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21665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CB4F69"/>
              </a:solidFill>
            </p:spPr>
          </p:sp>
        </p:grpSp>
        <p:grpSp>
          <p:nvGrpSpPr>
            <p:cNvPr name="Group 76" id="76"/>
            <p:cNvGrpSpPr/>
            <p:nvPr/>
          </p:nvGrpSpPr>
          <p:grpSpPr>
            <a:xfrm rot="0">
              <a:off x="903947" y="1605195"/>
              <a:ext cx="318726" cy="318726"/>
              <a:chOff x="0" y="0"/>
              <a:chExt cx="6350000" cy="6350000"/>
            </a:xfrm>
          </p:grpSpPr>
          <p:sp>
            <p:nvSpPr>
              <p:cNvPr name="Freeform 77" id="77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21665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47C87E"/>
              </a:solidFill>
            </p:spPr>
          </p:sp>
        </p:grpSp>
        <p:grpSp>
          <p:nvGrpSpPr>
            <p:cNvPr name="Group 78" id="78"/>
            <p:cNvGrpSpPr/>
            <p:nvPr/>
          </p:nvGrpSpPr>
          <p:grpSpPr>
            <a:xfrm rot="0">
              <a:off x="1355875" y="1605195"/>
              <a:ext cx="318726" cy="318726"/>
              <a:chOff x="0" y="0"/>
              <a:chExt cx="6350000" cy="6350000"/>
            </a:xfrm>
          </p:grpSpPr>
          <p:sp>
            <p:nvSpPr>
              <p:cNvPr name="Freeform 79" id="7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21665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FF9A16"/>
              </a:solidFill>
            </p:spPr>
          </p:sp>
        </p:grpSp>
        <p:sp>
          <p:nvSpPr>
            <p:cNvPr name="TextBox 80" id="80"/>
            <p:cNvSpPr txBox="true"/>
            <p:nvPr/>
          </p:nvSpPr>
          <p:spPr>
            <a:xfrm rot="0">
              <a:off x="212390" y="125279"/>
              <a:ext cx="2416982" cy="1472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8590"/>
                </a:lnSpc>
              </a:pPr>
              <a:r>
                <a:rPr lang="en-US" sz="7470">
                  <a:solidFill>
                    <a:srgbClr val="CB4F69"/>
                  </a:solidFill>
                  <a:latin typeface="Garet ExtraBold"/>
                </a:rPr>
                <a:t>05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2213926" y="239828"/>
              <a:ext cx="4344274" cy="602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825"/>
                </a:lnSpc>
              </a:pPr>
              <a:r>
                <a:rPr lang="en-US" sz="2732">
                  <a:solidFill>
                    <a:srgbClr val="FFFFFF"/>
                  </a:solidFill>
                  <a:latin typeface="Garet Bold"/>
                </a:rPr>
                <a:t>Evaluation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978784" y="7457400"/>
            <a:ext cx="5033872" cy="1617455"/>
            <a:chOff x="0" y="0"/>
            <a:chExt cx="6711829" cy="2156607"/>
          </a:xfrm>
        </p:grpSpPr>
        <p:grpSp>
          <p:nvGrpSpPr>
            <p:cNvPr name="Group 83" id="83"/>
            <p:cNvGrpSpPr/>
            <p:nvPr/>
          </p:nvGrpSpPr>
          <p:grpSpPr>
            <a:xfrm rot="0">
              <a:off x="0" y="0"/>
              <a:ext cx="6711829" cy="2156607"/>
              <a:chOff x="0" y="0"/>
              <a:chExt cx="4582321" cy="1472365"/>
            </a:xfrm>
          </p:grpSpPr>
          <p:sp>
            <p:nvSpPr>
              <p:cNvPr name="Freeform 84" id="84"/>
              <p:cNvSpPr/>
              <p:nvPr/>
            </p:nvSpPr>
            <p:spPr>
              <a:xfrm>
                <a:off x="0" y="0"/>
                <a:ext cx="4582321" cy="1472365"/>
              </a:xfrm>
              <a:custGeom>
                <a:avLst/>
                <a:gdLst/>
                <a:ahLst/>
                <a:cxnLst/>
                <a:rect r="r" b="b" t="t" l="l"/>
                <a:pathLst>
                  <a:path h="1472365" w="4582321">
                    <a:moveTo>
                      <a:pt x="4457860" y="1472365"/>
                    </a:moveTo>
                    <a:lnTo>
                      <a:pt x="124460" y="1472365"/>
                    </a:lnTo>
                    <a:cubicBezTo>
                      <a:pt x="55880" y="1472365"/>
                      <a:pt x="0" y="1416485"/>
                      <a:pt x="0" y="134790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4457861" y="0"/>
                    </a:lnTo>
                    <a:cubicBezTo>
                      <a:pt x="4526441" y="0"/>
                      <a:pt x="4582321" y="55880"/>
                      <a:pt x="4582321" y="124460"/>
                    </a:cubicBezTo>
                    <a:lnTo>
                      <a:pt x="4582321" y="1347905"/>
                    </a:lnTo>
                    <a:cubicBezTo>
                      <a:pt x="4582321" y="1416485"/>
                      <a:pt x="4526441" y="1472365"/>
                      <a:pt x="4457861" y="1472365"/>
                    </a:cubicBezTo>
                    <a:close/>
                  </a:path>
                </a:pathLst>
              </a:custGeom>
              <a:solidFill>
                <a:srgbClr val="1E1E1E"/>
              </a:solidFill>
            </p:spPr>
          </p:sp>
        </p:grpSp>
        <p:grpSp>
          <p:nvGrpSpPr>
            <p:cNvPr name="Group 85" id="85"/>
            <p:cNvGrpSpPr/>
            <p:nvPr/>
          </p:nvGrpSpPr>
          <p:grpSpPr>
            <a:xfrm rot="0">
              <a:off x="446530" y="1605195"/>
              <a:ext cx="318726" cy="318726"/>
              <a:chOff x="0" y="0"/>
              <a:chExt cx="6350000" cy="6350000"/>
            </a:xfrm>
          </p:grpSpPr>
          <p:sp>
            <p:nvSpPr>
              <p:cNvPr name="Freeform 86" id="8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21665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CB4F69"/>
              </a:solidFill>
            </p:spPr>
          </p:sp>
        </p:grpSp>
        <p:grpSp>
          <p:nvGrpSpPr>
            <p:cNvPr name="Group 87" id="87"/>
            <p:cNvGrpSpPr/>
            <p:nvPr/>
          </p:nvGrpSpPr>
          <p:grpSpPr>
            <a:xfrm rot="0">
              <a:off x="903947" y="1605195"/>
              <a:ext cx="318726" cy="318726"/>
              <a:chOff x="0" y="0"/>
              <a:chExt cx="6350000" cy="6350000"/>
            </a:xfrm>
          </p:grpSpPr>
          <p:sp>
            <p:nvSpPr>
              <p:cNvPr name="Freeform 88" id="88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21665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47C87E"/>
              </a:solidFill>
            </p:spPr>
          </p:sp>
        </p:grpSp>
        <p:grpSp>
          <p:nvGrpSpPr>
            <p:cNvPr name="Group 89" id="89"/>
            <p:cNvGrpSpPr/>
            <p:nvPr/>
          </p:nvGrpSpPr>
          <p:grpSpPr>
            <a:xfrm rot="0">
              <a:off x="1355875" y="1605195"/>
              <a:ext cx="318726" cy="318726"/>
              <a:chOff x="0" y="0"/>
              <a:chExt cx="6350000" cy="6350000"/>
            </a:xfrm>
          </p:grpSpPr>
          <p:sp>
            <p:nvSpPr>
              <p:cNvPr name="Freeform 90" id="90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21665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FF9A16"/>
              </a:solidFill>
            </p:spPr>
          </p:sp>
        </p:grpSp>
        <p:sp>
          <p:nvSpPr>
            <p:cNvPr name="TextBox 91" id="91"/>
            <p:cNvSpPr txBox="true"/>
            <p:nvPr/>
          </p:nvSpPr>
          <p:spPr>
            <a:xfrm rot="0">
              <a:off x="212390" y="125279"/>
              <a:ext cx="2416982" cy="1472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8590"/>
                </a:lnSpc>
              </a:pPr>
              <a:r>
                <a:rPr lang="en-US" sz="7470">
                  <a:solidFill>
                    <a:srgbClr val="CB4F69"/>
                  </a:solidFill>
                  <a:latin typeface="Garet ExtraBold"/>
                </a:rPr>
                <a:t>06</a:t>
              </a:r>
            </a:p>
          </p:txBody>
        </p:sp>
        <p:sp>
          <p:nvSpPr>
            <p:cNvPr name="TextBox 92" id="92"/>
            <p:cNvSpPr txBox="true"/>
            <p:nvPr/>
          </p:nvSpPr>
          <p:spPr>
            <a:xfrm rot="0">
              <a:off x="2213926" y="239828"/>
              <a:ext cx="4344274" cy="602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825"/>
                </a:lnSpc>
              </a:pPr>
              <a:r>
                <a:rPr lang="en-US" sz="2732">
                  <a:solidFill>
                    <a:srgbClr val="FFFFFF"/>
                  </a:solidFill>
                  <a:latin typeface="Garet Bold"/>
                </a:rPr>
                <a:t>Deployment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3174" y="1028700"/>
            <a:ext cx="16296126" cy="8180826"/>
            <a:chOff x="0" y="0"/>
            <a:chExt cx="3812450" cy="1913890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3812450" cy="1913890"/>
            </a:xfrm>
            <a:custGeom>
              <a:avLst/>
              <a:gdLst/>
              <a:ahLst/>
              <a:cxnLst/>
              <a:rect r="r" b="b" t="t" l="l"/>
              <a:pathLst>
                <a:path h="1913890" w="3812450">
                  <a:moveTo>
                    <a:pt x="368799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687990" y="0"/>
                  </a:lnTo>
                  <a:cubicBezTo>
                    <a:pt x="3756570" y="0"/>
                    <a:pt x="3812450" y="55880"/>
                    <a:pt x="3812450" y="124460"/>
                  </a:cubicBezTo>
                  <a:lnTo>
                    <a:pt x="3812450" y="1789430"/>
                  </a:lnTo>
                  <a:cubicBezTo>
                    <a:pt x="3812450" y="1858010"/>
                    <a:pt x="3756570" y="1913890"/>
                    <a:pt x="3687990" y="1913890"/>
                  </a:cubicBezTo>
                  <a:close/>
                </a:path>
              </a:pathLst>
            </a:custGeom>
            <a:solidFill>
              <a:srgbClr val="0E0E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3174" y="1028700"/>
            <a:ext cx="4134700" cy="8180826"/>
            <a:chOff x="0" y="0"/>
            <a:chExt cx="967306" cy="1913890"/>
          </a:xfrm>
        </p:grpSpPr>
        <p:sp>
          <p:nvSpPr>
            <p:cNvPr name="Freeform 5" id="5"/>
            <p:cNvSpPr/>
            <p:nvPr/>
          </p:nvSpPr>
          <p:spPr>
            <a:xfrm>
              <a:off x="0" y="0"/>
              <a:ext cx="967306" cy="1913890"/>
            </a:xfrm>
            <a:custGeom>
              <a:avLst/>
              <a:gdLst/>
              <a:ahLst/>
              <a:cxnLst/>
              <a:rect r="r" b="b" t="t" l="l"/>
              <a:pathLst>
                <a:path h="1913890" w="967306">
                  <a:moveTo>
                    <a:pt x="842846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42846" y="0"/>
                  </a:lnTo>
                  <a:cubicBezTo>
                    <a:pt x="911426" y="0"/>
                    <a:pt x="967306" y="55880"/>
                    <a:pt x="967306" y="124460"/>
                  </a:cubicBezTo>
                  <a:lnTo>
                    <a:pt x="967306" y="1789430"/>
                  </a:lnTo>
                  <a:cubicBezTo>
                    <a:pt x="967306" y="1858010"/>
                    <a:pt x="911426" y="1913890"/>
                    <a:pt x="842846" y="1913890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761606" y="1028700"/>
            <a:ext cx="5943799" cy="8180826"/>
            <a:chOff x="0" y="0"/>
            <a:chExt cx="2168314" cy="2984388"/>
          </a:xfrm>
        </p:grpSpPr>
        <p:sp>
          <p:nvSpPr>
            <p:cNvPr name="Freeform 7" id="7"/>
            <p:cNvSpPr/>
            <p:nvPr/>
          </p:nvSpPr>
          <p:spPr>
            <a:xfrm>
              <a:off x="0" y="0"/>
              <a:ext cx="2168314" cy="2984388"/>
            </a:xfrm>
            <a:custGeom>
              <a:avLst/>
              <a:gdLst/>
              <a:ahLst/>
              <a:cxnLst/>
              <a:rect r="r" b="b" t="t" l="l"/>
              <a:pathLst>
                <a:path h="2984388" w="2168314">
                  <a:moveTo>
                    <a:pt x="0" y="0"/>
                  </a:moveTo>
                  <a:lnTo>
                    <a:pt x="2168314" y="0"/>
                  </a:lnTo>
                  <a:lnTo>
                    <a:pt x="2168314" y="2984388"/>
                  </a:lnTo>
                  <a:lnTo>
                    <a:pt x="0" y="2984388"/>
                  </a:lnTo>
                  <a:close/>
                </a:path>
              </a:pathLst>
            </a:custGeom>
            <a:solidFill>
              <a:srgbClr val="0E0E0E"/>
            </a:solidFill>
          </p:spPr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true" flipV="false" rot="0">
            <a:off x="5375664" y="1405186"/>
            <a:ext cx="540474" cy="540474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6171088" y="1405186"/>
            <a:ext cx="540474" cy="540474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>
            <a:off x="5375664" y="7712517"/>
            <a:ext cx="10073344" cy="0"/>
          </a:xfrm>
          <a:prstGeom prst="line">
            <a:avLst/>
          </a:prstGeom>
          <a:ln cap="flat" w="19050">
            <a:solidFill>
              <a:srgbClr val="00E1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5375664" y="4140119"/>
            <a:ext cx="10291291" cy="2277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3"/>
              </a:lnSpc>
            </a:pPr>
            <a:r>
              <a:rPr lang="en-US" spc="-90" sz="2573">
                <a:solidFill>
                  <a:srgbClr val="FFFFFF"/>
                </a:solidFill>
                <a:latin typeface="Glacial Indifference"/>
              </a:rPr>
              <a:t>- Understanding project background</a:t>
            </a:r>
          </a:p>
          <a:p>
            <a:pPr algn="just">
              <a:lnSpc>
                <a:spcPts val="3603"/>
              </a:lnSpc>
            </a:pPr>
          </a:p>
          <a:p>
            <a:pPr algn="just">
              <a:lnSpc>
                <a:spcPts val="3603"/>
              </a:lnSpc>
            </a:pPr>
            <a:r>
              <a:rPr lang="en-US" spc="-90" sz="2573">
                <a:solidFill>
                  <a:srgbClr val="FFFFFF"/>
                </a:solidFill>
                <a:latin typeface="Glacial Indifference"/>
              </a:rPr>
              <a:t>- Defining analytic goals</a:t>
            </a:r>
          </a:p>
          <a:p>
            <a:pPr algn="just">
              <a:lnSpc>
                <a:spcPts val="3603"/>
              </a:lnSpc>
            </a:pPr>
          </a:p>
          <a:p>
            <a:pPr algn="just">
              <a:lnSpc>
                <a:spcPts val="3603"/>
              </a:lnSpc>
            </a:pPr>
            <a:r>
              <a:rPr lang="en-US" spc="-90" sz="2573">
                <a:solidFill>
                  <a:srgbClr val="FFFFFF"/>
                </a:solidFill>
                <a:latin typeface="Glacial Indifference"/>
              </a:rPr>
              <a:t>- Identifying resources to perform the prediction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75664" y="2447548"/>
            <a:ext cx="11218340" cy="1135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9355"/>
              </a:lnSpc>
            </a:pPr>
            <a:r>
              <a:rPr lang="en-US" sz="6682">
                <a:solidFill>
                  <a:srgbClr val="0DFD81"/>
                </a:solidFill>
                <a:latin typeface="Garet Bold"/>
              </a:rPr>
              <a:t>Business Understanding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55778" y="1535706"/>
            <a:ext cx="3995213" cy="40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167"/>
              </a:lnSpc>
            </a:pPr>
            <a:r>
              <a:rPr lang="en-US" sz="2906">
                <a:solidFill>
                  <a:srgbClr val="FFFFFF"/>
                </a:solidFill>
                <a:latin typeface="Glacial Indifference"/>
              </a:rPr>
              <a:t>CRISP-DM Methodology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97143" y="1555901"/>
            <a:ext cx="239044" cy="23904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CB4F6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840206" y="1555901"/>
            <a:ext cx="239044" cy="239044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47C87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179152" y="1555901"/>
            <a:ext cx="239044" cy="239044"/>
            <a:chOff x="0" y="0"/>
            <a:chExt cx="6350000" cy="6350000"/>
          </a:xfrm>
        </p:grpSpPr>
        <p:sp>
          <p:nvSpPr>
            <p:cNvPr name="Freeform 19" id="19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9A16"/>
            </a:solidFill>
          </p:spPr>
        </p:sp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70817" y="4535229"/>
            <a:ext cx="491697" cy="478287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26040" y="2490041"/>
            <a:ext cx="485207" cy="468831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407408" y="5614572"/>
            <a:ext cx="528980" cy="408637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>
            <a:off x="1407408" y="5330553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277243" y="3458723"/>
            <a:ext cx="678845" cy="452975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2137959" y="2523748"/>
            <a:ext cx="1138442" cy="35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Home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64224" y="4458945"/>
            <a:ext cx="2017481" cy="7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CRISP-DM Methodology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79250" y="5620870"/>
            <a:ext cx="1787625" cy="34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Summary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64224" y="3305601"/>
            <a:ext cx="2017481" cy="7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Project Background</a:t>
            </a:r>
          </a:p>
        </p:txBody>
      </p:sp>
      <p:sp>
        <p:nvSpPr>
          <p:cNvPr name="AutoShape 29" id="29"/>
          <p:cNvSpPr/>
          <p:nvPr/>
        </p:nvSpPr>
        <p:spPr>
          <a:xfrm rot="0">
            <a:off x="1367232" y="4197269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rot="0">
            <a:off x="1326040" y="3077058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3174" y="1028700"/>
            <a:ext cx="16296126" cy="8180826"/>
            <a:chOff x="0" y="0"/>
            <a:chExt cx="3812450" cy="1913890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3812450" cy="1913890"/>
            </a:xfrm>
            <a:custGeom>
              <a:avLst/>
              <a:gdLst/>
              <a:ahLst/>
              <a:cxnLst/>
              <a:rect r="r" b="b" t="t" l="l"/>
              <a:pathLst>
                <a:path h="1913890" w="3812450">
                  <a:moveTo>
                    <a:pt x="368799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687990" y="0"/>
                  </a:lnTo>
                  <a:cubicBezTo>
                    <a:pt x="3756570" y="0"/>
                    <a:pt x="3812450" y="55880"/>
                    <a:pt x="3812450" y="124460"/>
                  </a:cubicBezTo>
                  <a:lnTo>
                    <a:pt x="3812450" y="1789430"/>
                  </a:lnTo>
                  <a:cubicBezTo>
                    <a:pt x="3812450" y="1858010"/>
                    <a:pt x="3756570" y="1913890"/>
                    <a:pt x="3687990" y="1913890"/>
                  </a:cubicBezTo>
                  <a:close/>
                </a:path>
              </a:pathLst>
            </a:custGeom>
            <a:solidFill>
              <a:srgbClr val="0E0E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3174" y="1028700"/>
            <a:ext cx="4134700" cy="8180826"/>
            <a:chOff x="0" y="0"/>
            <a:chExt cx="967306" cy="1913890"/>
          </a:xfrm>
        </p:grpSpPr>
        <p:sp>
          <p:nvSpPr>
            <p:cNvPr name="Freeform 5" id="5"/>
            <p:cNvSpPr/>
            <p:nvPr/>
          </p:nvSpPr>
          <p:spPr>
            <a:xfrm>
              <a:off x="0" y="0"/>
              <a:ext cx="967306" cy="1913890"/>
            </a:xfrm>
            <a:custGeom>
              <a:avLst/>
              <a:gdLst/>
              <a:ahLst/>
              <a:cxnLst/>
              <a:rect r="r" b="b" t="t" l="l"/>
              <a:pathLst>
                <a:path h="1913890" w="967306">
                  <a:moveTo>
                    <a:pt x="842846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42846" y="0"/>
                  </a:lnTo>
                  <a:cubicBezTo>
                    <a:pt x="911426" y="0"/>
                    <a:pt x="967306" y="55880"/>
                    <a:pt x="967306" y="124460"/>
                  </a:cubicBezTo>
                  <a:lnTo>
                    <a:pt x="967306" y="1789430"/>
                  </a:lnTo>
                  <a:cubicBezTo>
                    <a:pt x="967306" y="1858010"/>
                    <a:pt x="911426" y="1913890"/>
                    <a:pt x="842846" y="1913890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761606" y="1028700"/>
            <a:ext cx="5943799" cy="8180826"/>
            <a:chOff x="0" y="0"/>
            <a:chExt cx="2168314" cy="2984388"/>
          </a:xfrm>
        </p:grpSpPr>
        <p:sp>
          <p:nvSpPr>
            <p:cNvPr name="Freeform 7" id="7"/>
            <p:cNvSpPr/>
            <p:nvPr/>
          </p:nvSpPr>
          <p:spPr>
            <a:xfrm>
              <a:off x="0" y="0"/>
              <a:ext cx="2168314" cy="2984388"/>
            </a:xfrm>
            <a:custGeom>
              <a:avLst/>
              <a:gdLst/>
              <a:ahLst/>
              <a:cxnLst/>
              <a:rect r="r" b="b" t="t" l="l"/>
              <a:pathLst>
                <a:path h="2984388" w="2168314">
                  <a:moveTo>
                    <a:pt x="0" y="0"/>
                  </a:moveTo>
                  <a:lnTo>
                    <a:pt x="2168314" y="0"/>
                  </a:lnTo>
                  <a:lnTo>
                    <a:pt x="2168314" y="2984388"/>
                  </a:lnTo>
                  <a:lnTo>
                    <a:pt x="0" y="2984388"/>
                  </a:lnTo>
                  <a:close/>
                </a:path>
              </a:pathLst>
            </a:custGeom>
            <a:solidFill>
              <a:srgbClr val="0E0E0E"/>
            </a:solidFill>
          </p:spPr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true" flipV="false" rot="0">
            <a:off x="5375664" y="1405186"/>
            <a:ext cx="540474" cy="540474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6171088" y="1405186"/>
            <a:ext cx="540474" cy="540474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>
            <a:off x="5375664" y="8605756"/>
            <a:ext cx="10073344" cy="0"/>
          </a:xfrm>
          <a:prstGeom prst="line">
            <a:avLst/>
          </a:prstGeom>
          <a:ln cap="flat" w="19050">
            <a:solidFill>
              <a:srgbClr val="00E1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5375664" y="4140119"/>
            <a:ext cx="10291291" cy="4106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3"/>
              </a:lnSpc>
            </a:pPr>
            <a:r>
              <a:rPr lang="en-US" spc="-90" sz="2573">
                <a:solidFill>
                  <a:srgbClr val="FFFFFF"/>
                </a:solidFill>
                <a:latin typeface="Glacial Indifference"/>
              </a:rPr>
              <a:t>- Dataset collected through a survey by Human Resources Department</a:t>
            </a:r>
          </a:p>
          <a:p>
            <a:pPr algn="just">
              <a:lnSpc>
                <a:spcPts val="3603"/>
              </a:lnSpc>
            </a:pPr>
          </a:p>
          <a:p>
            <a:pPr algn="just">
              <a:lnSpc>
                <a:spcPts val="3603"/>
              </a:lnSpc>
            </a:pPr>
            <a:r>
              <a:rPr lang="en-US" spc="-90" sz="2573">
                <a:solidFill>
                  <a:srgbClr val="FFFFFF"/>
                </a:solidFill>
                <a:latin typeface="Glacial Indifference"/>
              </a:rPr>
              <a:t>-Exploring data (19478 rows, 30 columns)</a:t>
            </a:r>
          </a:p>
          <a:p>
            <a:pPr algn="just">
              <a:lnSpc>
                <a:spcPts val="3603"/>
              </a:lnSpc>
            </a:pPr>
          </a:p>
          <a:p>
            <a:pPr algn="just">
              <a:lnSpc>
                <a:spcPts val="3603"/>
              </a:lnSpc>
            </a:pPr>
            <a:r>
              <a:rPr lang="en-US" spc="-90" sz="2573">
                <a:solidFill>
                  <a:srgbClr val="FFFFFF"/>
                </a:solidFill>
                <a:latin typeface="Glacial Indifference"/>
              </a:rPr>
              <a:t>- Understanding each attributes</a:t>
            </a:r>
          </a:p>
          <a:p>
            <a:pPr algn="just">
              <a:lnSpc>
                <a:spcPts val="3603"/>
              </a:lnSpc>
            </a:pPr>
          </a:p>
          <a:p>
            <a:pPr algn="just">
              <a:lnSpc>
                <a:spcPts val="3603"/>
              </a:lnSpc>
            </a:pPr>
            <a:r>
              <a:rPr lang="en-US" spc="-90" sz="2573">
                <a:solidFill>
                  <a:srgbClr val="FFFFFF"/>
                </a:solidFill>
                <a:latin typeface="Glacial Indifference"/>
              </a:rPr>
              <a:t>- Perform Exploratory Data Analysis (EDA)</a:t>
            </a:r>
          </a:p>
          <a:p>
            <a:pPr algn="just">
              <a:lnSpc>
                <a:spcPts val="3603"/>
              </a:lnSpc>
            </a:pPr>
          </a:p>
          <a:p>
            <a:pPr algn="just">
              <a:lnSpc>
                <a:spcPts val="3603"/>
              </a:lnSpc>
            </a:pPr>
            <a:r>
              <a:rPr lang="en-US" spc="-90" sz="2573">
                <a:solidFill>
                  <a:srgbClr val="FFFFFF"/>
                </a:solidFill>
                <a:latin typeface="Glacial Indifference"/>
              </a:rPr>
              <a:t>- Perform Cross Tabulation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75664" y="2447548"/>
            <a:ext cx="10207325" cy="1135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9355"/>
              </a:lnSpc>
            </a:pPr>
            <a:r>
              <a:rPr lang="en-US" sz="6682">
                <a:solidFill>
                  <a:srgbClr val="0DFD81"/>
                </a:solidFill>
                <a:latin typeface="Garet Bold"/>
              </a:rPr>
              <a:t>Data Understanding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55778" y="1535706"/>
            <a:ext cx="3995213" cy="40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167"/>
              </a:lnSpc>
            </a:pPr>
            <a:r>
              <a:rPr lang="en-US" sz="2906">
                <a:solidFill>
                  <a:srgbClr val="FFFFFF"/>
                </a:solidFill>
                <a:latin typeface="Glacial Indifference"/>
              </a:rPr>
              <a:t>CRISP-DM Methodology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97143" y="1555901"/>
            <a:ext cx="239044" cy="23904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CB4F6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840206" y="1555901"/>
            <a:ext cx="239044" cy="239044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47C87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179152" y="1555901"/>
            <a:ext cx="239044" cy="239044"/>
            <a:chOff x="0" y="0"/>
            <a:chExt cx="6350000" cy="6350000"/>
          </a:xfrm>
        </p:grpSpPr>
        <p:sp>
          <p:nvSpPr>
            <p:cNvPr name="Freeform 19" id="19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9A16"/>
            </a:solidFill>
          </p:spPr>
        </p:sp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70817" y="4535229"/>
            <a:ext cx="491697" cy="478287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26040" y="2490041"/>
            <a:ext cx="485207" cy="468831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407408" y="5614572"/>
            <a:ext cx="528980" cy="408637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>
            <a:off x="1407408" y="5330553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277243" y="3458723"/>
            <a:ext cx="678845" cy="452975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2137959" y="2523748"/>
            <a:ext cx="1138442" cy="35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Home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64224" y="4458945"/>
            <a:ext cx="2017481" cy="7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CRISP-DM Methodology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79250" y="5620870"/>
            <a:ext cx="1787625" cy="34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Summary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64224" y="3305601"/>
            <a:ext cx="2017481" cy="7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Project Background</a:t>
            </a:r>
          </a:p>
        </p:txBody>
      </p:sp>
      <p:sp>
        <p:nvSpPr>
          <p:cNvPr name="AutoShape 29" id="29"/>
          <p:cNvSpPr/>
          <p:nvPr/>
        </p:nvSpPr>
        <p:spPr>
          <a:xfrm rot="0">
            <a:off x="1367232" y="4197269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rot="0">
            <a:off x="1326040" y="3077058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538028" y="1028700"/>
            <a:ext cx="7824985" cy="859597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9972906" y="1028700"/>
            <a:ext cx="7494481" cy="8595976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985699" y="141605"/>
            <a:ext cx="781109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4F4F4"/>
                </a:solidFill>
                <a:latin typeface="Open Sans"/>
              </a:rPr>
              <a:t>Understanding Attributes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644315" y="1028700"/>
            <a:ext cx="4806762" cy="518082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452" t="0" r="452" b="0"/>
          <a:stretch>
            <a:fillRect/>
          </a:stretch>
        </p:blipFill>
        <p:spPr>
          <a:xfrm flipH="false" flipV="false" rot="0">
            <a:off x="9844689" y="1028700"/>
            <a:ext cx="5355593" cy="518082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3401727" y="6367086"/>
            <a:ext cx="11115755" cy="391991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226844" y="-20320"/>
            <a:ext cx="783431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Open Sans"/>
              </a:rPr>
              <a:t>Exploratory Data Analysis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523170" y="1189987"/>
            <a:ext cx="15241659" cy="7907027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230713" y="141605"/>
            <a:ext cx="782657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Open Sans"/>
              </a:rPr>
              <a:t>Cross Tabulation Analysis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3174" y="1028700"/>
            <a:ext cx="16296126" cy="8180826"/>
            <a:chOff x="0" y="0"/>
            <a:chExt cx="3812450" cy="1913890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3812450" cy="1913890"/>
            </a:xfrm>
            <a:custGeom>
              <a:avLst/>
              <a:gdLst/>
              <a:ahLst/>
              <a:cxnLst/>
              <a:rect r="r" b="b" t="t" l="l"/>
              <a:pathLst>
                <a:path h="1913890" w="3812450">
                  <a:moveTo>
                    <a:pt x="368799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687990" y="0"/>
                  </a:lnTo>
                  <a:cubicBezTo>
                    <a:pt x="3756570" y="0"/>
                    <a:pt x="3812450" y="55880"/>
                    <a:pt x="3812450" y="124460"/>
                  </a:cubicBezTo>
                  <a:lnTo>
                    <a:pt x="3812450" y="1789430"/>
                  </a:lnTo>
                  <a:cubicBezTo>
                    <a:pt x="3812450" y="1858010"/>
                    <a:pt x="3756570" y="1913890"/>
                    <a:pt x="3687990" y="1913890"/>
                  </a:cubicBezTo>
                  <a:close/>
                </a:path>
              </a:pathLst>
            </a:custGeom>
            <a:solidFill>
              <a:srgbClr val="0E0E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3174" y="1028700"/>
            <a:ext cx="4134700" cy="8180826"/>
            <a:chOff x="0" y="0"/>
            <a:chExt cx="967306" cy="1913890"/>
          </a:xfrm>
        </p:grpSpPr>
        <p:sp>
          <p:nvSpPr>
            <p:cNvPr name="Freeform 5" id="5"/>
            <p:cNvSpPr/>
            <p:nvPr/>
          </p:nvSpPr>
          <p:spPr>
            <a:xfrm>
              <a:off x="0" y="0"/>
              <a:ext cx="967306" cy="1913890"/>
            </a:xfrm>
            <a:custGeom>
              <a:avLst/>
              <a:gdLst/>
              <a:ahLst/>
              <a:cxnLst/>
              <a:rect r="r" b="b" t="t" l="l"/>
              <a:pathLst>
                <a:path h="1913890" w="967306">
                  <a:moveTo>
                    <a:pt x="842846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42846" y="0"/>
                  </a:lnTo>
                  <a:cubicBezTo>
                    <a:pt x="911426" y="0"/>
                    <a:pt x="967306" y="55880"/>
                    <a:pt x="967306" y="124460"/>
                  </a:cubicBezTo>
                  <a:lnTo>
                    <a:pt x="967306" y="1789430"/>
                  </a:lnTo>
                  <a:cubicBezTo>
                    <a:pt x="967306" y="1858010"/>
                    <a:pt x="911426" y="1913890"/>
                    <a:pt x="842846" y="1913890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761606" y="1028700"/>
            <a:ext cx="5943799" cy="8180826"/>
            <a:chOff x="0" y="0"/>
            <a:chExt cx="2168314" cy="2984388"/>
          </a:xfrm>
        </p:grpSpPr>
        <p:sp>
          <p:nvSpPr>
            <p:cNvPr name="Freeform 7" id="7"/>
            <p:cNvSpPr/>
            <p:nvPr/>
          </p:nvSpPr>
          <p:spPr>
            <a:xfrm>
              <a:off x="0" y="0"/>
              <a:ext cx="2168314" cy="2984388"/>
            </a:xfrm>
            <a:custGeom>
              <a:avLst/>
              <a:gdLst/>
              <a:ahLst/>
              <a:cxnLst/>
              <a:rect r="r" b="b" t="t" l="l"/>
              <a:pathLst>
                <a:path h="2984388" w="2168314">
                  <a:moveTo>
                    <a:pt x="0" y="0"/>
                  </a:moveTo>
                  <a:lnTo>
                    <a:pt x="2168314" y="0"/>
                  </a:lnTo>
                  <a:lnTo>
                    <a:pt x="2168314" y="2984388"/>
                  </a:lnTo>
                  <a:lnTo>
                    <a:pt x="0" y="2984388"/>
                  </a:lnTo>
                  <a:close/>
                </a:path>
              </a:pathLst>
            </a:custGeom>
            <a:solidFill>
              <a:srgbClr val="0E0E0E"/>
            </a:solidFill>
          </p:spPr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true" flipV="false" rot="0">
            <a:off x="5375664" y="1405186"/>
            <a:ext cx="540474" cy="540474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6171088" y="1405186"/>
            <a:ext cx="540474" cy="540474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>
            <a:off x="5375664" y="6954256"/>
            <a:ext cx="10073344" cy="0"/>
          </a:xfrm>
          <a:prstGeom prst="line">
            <a:avLst/>
          </a:prstGeom>
          <a:ln cap="flat" w="19050">
            <a:solidFill>
              <a:srgbClr val="00E1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5375664" y="2447548"/>
            <a:ext cx="10207325" cy="1135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9355"/>
              </a:lnSpc>
            </a:pPr>
            <a:r>
              <a:rPr lang="en-US" sz="6682">
                <a:solidFill>
                  <a:srgbClr val="0DFD81"/>
                </a:solidFill>
                <a:latin typeface="Garet Bold"/>
              </a:rPr>
              <a:t>Data Preparation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55778" y="1535706"/>
            <a:ext cx="3995213" cy="40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167"/>
              </a:lnSpc>
            </a:pPr>
            <a:r>
              <a:rPr lang="en-US" sz="2906">
                <a:solidFill>
                  <a:srgbClr val="FFFFFF"/>
                </a:solidFill>
                <a:latin typeface="Glacial Indifference"/>
              </a:rPr>
              <a:t>CRISP-DM Methodology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497143" y="1555901"/>
            <a:ext cx="239044" cy="239044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CB4F6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840206" y="1555901"/>
            <a:ext cx="239044" cy="239044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47C87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179152" y="1555901"/>
            <a:ext cx="239044" cy="239044"/>
            <a:chOff x="0" y="0"/>
            <a:chExt cx="6350000" cy="6350000"/>
          </a:xfrm>
        </p:grpSpPr>
        <p:sp>
          <p:nvSpPr>
            <p:cNvPr name="Freeform 18" id="18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9A16"/>
            </a:solidFill>
          </p:spPr>
        </p:sp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70817" y="4535229"/>
            <a:ext cx="491697" cy="478287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26040" y="2490041"/>
            <a:ext cx="485207" cy="468831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407408" y="5614572"/>
            <a:ext cx="528980" cy="408637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>
            <a:off x="1407408" y="5330553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277243" y="3458723"/>
            <a:ext cx="678845" cy="452975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2137959" y="2523748"/>
            <a:ext cx="1138442" cy="35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Home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64224" y="4458945"/>
            <a:ext cx="2017481" cy="7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CRISP-DM Methodology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79250" y="5620870"/>
            <a:ext cx="1787625" cy="34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Summary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64224" y="3305601"/>
            <a:ext cx="2017481" cy="7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Project Background</a:t>
            </a:r>
          </a:p>
        </p:txBody>
      </p:sp>
      <p:sp>
        <p:nvSpPr>
          <p:cNvPr name="AutoShape 28" id="28"/>
          <p:cNvSpPr/>
          <p:nvPr/>
        </p:nvSpPr>
        <p:spPr>
          <a:xfrm rot="0">
            <a:off x="1367232" y="4197269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rot="0">
            <a:off x="1326040" y="3077058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5375664" y="4305117"/>
            <a:ext cx="10291291" cy="136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3"/>
              </a:lnSpc>
            </a:pPr>
            <a:r>
              <a:rPr lang="en-US" spc="-90" sz="2573">
                <a:solidFill>
                  <a:srgbClr val="FFFFFF"/>
                </a:solidFill>
                <a:latin typeface="Glacial Indifference"/>
              </a:rPr>
              <a:t>- Preparing raw data for analysis</a:t>
            </a:r>
          </a:p>
          <a:p>
            <a:pPr algn="just">
              <a:lnSpc>
                <a:spcPts val="3603"/>
              </a:lnSpc>
            </a:pPr>
          </a:p>
          <a:p>
            <a:pPr algn="just">
              <a:lnSpc>
                <a:spcPts val="3603"/>
              </a:lnSpc>
            </a:pPr>
            <a:r>
              <a:rPr lang="en-US" spc="-90" sz="2573">
                <a:solidFill>
                  <a:srgbClr val="FFFFFF"/>
                </a:solidFill>
                <a:latin typeface="Glacial Indifference"/>
              </a:rPr>
              <a:t>- Data cleansing processes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297405" y="2223654"/>
            <a:ext cx="15693190" cy="5839693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226844" y="141605"/>
            <a:ext cx="783431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Open Sans"/>
              </a:rPr>
              <a:t>Data Cleansing Processes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1895" t="0" r="1895" b="0"/>
          <a:stretch>
            <a:fillRect/>
          </a:stretch>
        </p:blipFill>
        <p:spPr>
          <a:xfrm flipH="false" flipV="false" rot="0">
            <a:off x="372857" y="1222177"/>
            <a:ext cx="17542287" cy="4667753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1148" t="0" r="1148" b="0"/>
          <a:stretch>
            <a:fillRect/>
          </a:stretch>
        </p:blipFill>
        <p:spPr>
          <a:xfrm flipH="false" flipV="false" rot="0">
            <a:off x="372857" y="6273908"/>
            <a:ext cx="17542287" cy="3301343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002584" y="141605"/>
            <a:ext cx="1028283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Open Sans"/>
              </a:rPr>
              <a:t>Raw Dataset VS Cleansed Dataset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3174" y="1028700"/>
            <a:ext cx="16296126" cy="8180826"/>
            <a:chOff x="0" y="0"/>
            <a:chExt cx="3812450" cy="1913890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3812450" cy="1913890"/>
            </a:xfrm>
            <a:custGeom>
              <a:avLst/>
              <a:gdLst/>
              <a:ahLst/>
              <a:cxnLst/>
              <a:rect r="r" b="b" t="t" l="l"/>
              <a:pathLst>
                <a:path h="1913890" w="3812450">
                  <a:moveTo>
                    <a:pt x="368799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687990" y="0"/>
                  </a:lnTo>
                  <a:cubicBezTo>
                    <a:pt x="3756570" y="0"/>
                    <a:pt x="3812450" y="55880"/>
                    <a:pt x="3812450" y="124460"/>
                  </a:cubicBezTo>
                  <a:lnTo>
                    <a:pt x="3812450" y="1789430"/>
                  </a:lnTo>
                  <a:cubicBezTo>
                    <a:pt x="3812450" y="1858010"/>
                    <a:pt x="3756570" y="1913890"/>
                    <a:pt x="3687990" y="1913890"/>
                  </a:cubicBezTo>
                  <a:close/>
                </a:path>
              </a:pathLst>
            </a:custGeom>
            <a:solidFill>
              <a:srgbClr val="0E0E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3174" y="1028700"/>
            <a:ext cx="4134700" cy="8180826"/>
            <a:chOff x="0" y="0"/>
            <a:chExt cx="967306" cy="1913890"/>
          </a:xfrm>
        </p:grpSpPr>
        <p:sp>
          <p:nvSpPr>
            <p:cNvPr name="Freeform 5" id="5"/>
            <p:cNvSpPr/>
            <p:nvPr/>
          </p:nvSpPr>
          <p:spPr>
            <a:xfrm>
              <a:off x="0" y="0"/>
              <a:ext cx="967306" cy="1913890"/>
            </a:xfrm>
            <a:custGeom>
              <a:avLst/>
              <a:gdLst/>
              <a:ahLst/>
              <a:cxnLst/>
              <a:rect r="r" b="b" t="t" l="l"/>
              <a:pathLst>
                <a:path h="1913890" w="967306">
                  <a:moveTo>
                    <a:pt x="842846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42846" y="0"/>
                  </a:lnTo>
                  <a:cubicBezTo>
                    <a:pt x="911426" y="0"/>
                    <a:pt x="967306" y="55880"/>
                    <a:pt x="967306" y="124460"/>
                  </a:cubicBezTo>
                  <a:lnTo>
                    <a:pt x="967306" y="1789430"/>
                  </a:lnTo>
                  <a:cubicBezTo>
                    <a:pt x="967306" y="1858010"/>
                    <a:pt x="911426" y="1913890"/>
                    <a:pt x="842846" y="1913890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761606" y="1028700"/>
            <a:ext cx="5943799" cy="8180826"/>
            <a:chOff x="0" y="0"/>
            <a:chExt cx="2168314" cy="2984388"/>
          </a:xfrm>
        </p:grpSpPr>
        <p:sp>
          <p:nvSpPr>
            <p:cNvPr name="Freeform 7" id="7"/>
            <p:cNvSpPr/>
            <p:nvPr/>
          </p:nvSpPr>
          <p:spPr>
            <a:xfrm>
              <a:off x="0" y="0"/>
              <a:ext cx="2168314" cy="2984388"/>
            </a:xfrm>
            <a:custGeom>
              <a:avLst/>
              <a:gdLst/>
              <a:ahLst/>
              <a:cxnLst/>
              <a:rect r="r" b="b" t="t" l="l"/>
              <a:pathLst>
                <a:path h="2984388" w="2168314">
                  <a:moveTo>
                    <a:pt x="0" y="0"/>
                  </a:moveTo>
                  <a:lnTo>
                    <a:pt x="2168314" y="0"/>
                  </a:lnTo>
                  <a:lnTo>
                    <a:pt x="2168314" y="2984388"/>
                  </a:lnTo>
                  <a:lnTo>
                    <a:pt x="0" y="2984388"/>
                  </a:lnTo>
                  <a:close/>
                </a:path>
              </a:pathLst>
            </a:custGeom>
            <a:solidFill>
              <a:srgbClr val="0E0E0E"/>
            </a:solidFill>
          </p:spPr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true" flipV="false" rot="0">
            <a:off x="5375664" y="1405186"/>
            <a:ext cx="540474" cy="540474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6171088" y="1405186"/>
            <a:ext cx="540474" cy="540474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>
            <a:off x="5375664" y="7661966"/>
            <a:ext cx="10073344" cy="0"/>
          </a:xfrm>
          <a:prstGeom prst="line">
            <a:avLst/>
          </a:prstGeom>
          <a:ln cap="flat" w="19050">
            <a:solidFill>
              <a:srgbClr val="00E1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5316948" y="4175016"/>
            <a:ext cx="10291291" cy="2277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3"/>
              </a:lnSpc>
            </a:pPr>
            <a:r>
              <a:rPr lang="en-US" spc="-90" sz="2573">
                <a:solidFill>
                  <a:srgbClr val="FFFFFF"/>
                </a:solidFill>
                <a:latin typeface="Glacial Indifference"/>
              </a:rPr>
              <a:t>-Finding the right model</a:t>
            </a:r>
          </a:p>
          <a:p>
            <a:pPr algn="just">
              <a:lnSpc>
                <a:spcPts val="3603"/>
              </a:lnSpc>
            </a:pPr>
          </a:p>
          <a:p>
            <a:pPr algn="just">
              <a:lnSpc>
                <a:spcPts val="3603"/>
              </a:lnSpc>
            </a:pPr>
            <a:r>
              <a:rPr lang="en-US" spc="-90" sz="2573">
                <a:solidFill>
                  <a:srgbClr val="FFFFFF"/>
                </a:solidFill>
                <a:latin typeface="Glacial Indifference"/>
              </a:rPr>
              <a:t>-Decision Tree Regression</a:t>
            </a:r>
          </a:p>
          <a:p>
            <a:pPr algn="just">
              <a:lnSpc>
                <a:spcPts val="3603"/>
              </a:lnSpc>
            </a:pPr>
          </a:p>
          <a:p>
            <a:pPr algn="just">
              <a:lnSpc>
                <a:spcPts val="3603"/>
              </a:lnSpc>
            </a:pPr>
            <a:r>
              <a:rPr lang="en-US" spc="-90" sz="2573">
                <a:solidFill>
                  <a:srgbClr val="FFFFFF"/>
                </a:solidFill>
                <a:latin typeface="Glacial Indifference"/>
              </a:rPr>
              <a:t>- Solves both regression and classification problems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75664" y="2447548"/>
            <a:ext cx="10207325" cy="1135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9355"/>
              </a:lnSpc>
            </a:pPr>
            <a:r>
              <a:rPr lang="en-US" sz="6682">
                <a:solidFill>
                  <a:srgbClr val="0DFD81"/>
                </a:solidFill>
                <a:latin typeface="Garet Bold"/>
              </a:rPr>
              <a:t>Modelling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55778" y="1535706"/>
            <a:ext cx="3995213" cy="40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167"/>
              </a:lnSpc>
            </a:pPr>
            <a:r>
              <a:rPr lang="en-US" sz="2906">
                <a:solidFill>
                  <a:srgbClr val="FFFFFF"/>
                </a:solidFill>
                <a:latin typeface="Glacial Indifference"/>
              </a:rPr>
              <a:t>CRISP-DM Methodology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97143" y="1555901"/>
            <a:ext cx="239044" cy="23904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CB4F6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840206" y="1555901"/>
            <a:ext cx="239044" cy="239044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47C87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179152" y="1555901"/>
            <a:ext cx="239044" cy="239044"/>
            <a:chOff x="0" y="0"/>
            <a:chExt cx="6350000" cy="6350000"/>
          </a:xfrm>
        </p:grpSpPr>
        <p:sp>
          <p:nvSpPr>
            <p:cNvPr name="Freeform 19" id="19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9A16"/>
            </a:solidFill>
          </p:spPr>
        </p:sp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70817" y="4535229"/>
            <a:ext cx="491697" cy="478287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26040" y="2490041"/>
            <a:ext cx="485207" cy="468831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407408" y="5614572"/>
            <a:ext cx="528980" cy="408637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>
            <a:off x="1407408" y="5330553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277243" y="3458723"/>
            <a:ext cx="678845" cy="452975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2137959" y="2523748"/>
            <a:ext cx="1138442" cy="35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Home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64224" y="4458945"/>
            <a:ext cx="2017481" cy="7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CRISP-DM Methodology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79250" y="5620870"/>
            <a:ext cx="1787625" cy="34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Summary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64224" y="3305601"/>
            <a:ext cx="2017481" cy="7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Project Background</a:t>
            </a:r>
          </a:p>
        </p:txBody>
      </p:sp>
      <p:sp>
        <p:nvSpPr>
          <p:cNvPr name="AutoShape 29" id="29"/>
          <p:cNvSpPr/>
          <p:nvPr/>
        </p:nvSpPr>
        <p:spPr>
          <a:xfrm rot="0">
            <a:off x="1367232" y="4197269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rot="0">
            <a:off x="1326040" y="3077058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223035" y="2886288"/>
            <a:ext cx="14184794" cy="4514423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605265" y="722939"/>
            <a:ext cx="742033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Open Sans"/>
              </a:rPr>
              <a:t>Finding The Right Model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3174" y="1028700"/>
            <a:ext cx="16296126" cy="8180826"/>
            <a:chOff x="0" y="0"/>
            <a:chExt cx="3812450" cy="1913890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3812450" cy="1913890"/>
            </a:xfrm>
            <a:custGeom>
              <a:avLst/>
              <a:gdLst/>
              <a:ahLst/>
              <a:cxnLst/>
              <a:rect r="r" b="b" t="t" l="l"/>
              <a:pathLst>
                <a:path h="1913890" w="3812450">
                  <a:moveTo>
                    <a:pt x="368799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687990" y="0"/>
                  </a:lnTo>
                  <a:cubicBezTo>
                    <a:pt x="3756570" y="0"/>
                    <a:pt x="3812450" y="55880"/>
                    <a:pt x="3812450" y="124460"/>
                  </a:cubicBezTo>
                  <a:lnTo>
                    <a:pt x="3812450" y="1789430"/>
                  </a:lnTo>
                  <a:cubicBezTo>
                    <a:pt x="3812450" y="1858010"/>
                    <a:pt x="3756570" y="1913890"/>
                    <a:pt x="3687990" y="1913890"/>
                  </a:cubicBezTo>
                  <a:close/>
                </a:path>
              </a:pathLst>
            </a:custGeom>
            <a:solidFill>
              <a:srgbClr val="0E0E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3174" y="1028700"/>
            <a:ext cx="4134700" cy="8180826"/>
            <a:chOff x="0" y="0"/>
            <a:chExt cx="967306" cy="1913890"/>
          </a:xfrm>
        </p:grpSpPr>
        <p:sp>
          <p:nvSpPr>
            <p:cNvPr name="Freeform 5" id="5"/>
            <p:cNvSpPr/>
            <p:nvPr/>
          </p:nvSpPr>
          <p:spPr>
            <a:xfrm>
              <a:off x="0" y="0"/>
              <a:ext cx="967306" cy="1913890"/>
            </a:xfrm>
            <a:custGeom>
              <a:avLst/>
              <a:gdLst/>
              <a:ahLst/>
              <a:cxnLst/>
              <a:rect r="r" b="b" t="t" l="l"/>
              <a:pathLst>
                <a:path h="1913890" w="967306">
                  <a:moveTo>
                    <a:pt x="842846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42846" y="0"/>
                  </a:lnTo>
                  <a:cubicBezTo>
                    <a:pt x="911426" y="0"/>
                    <a:pt x="967306" y="55880"/>
                    <a:pt x="967306" y="124460"/>
                  </a:cubicBezTo>
                  <a:lnTo>
                    <a:pt x="967306" y="1789430"/>
                  </a:lnTo>
                  <a:cubicBezTo>
                    <a:pt x="967306" y="1858010"/>
                    <a:pt x="911426" y="1913890"/>
                    <a:pt x="842846" y="1913890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761606" y="1028700"/>
            <a:ext cx="5943799" cy="8180826"/>
            <a:chOff x="0" y="0"/>
            <a:chExt cx="2168314" cy="2984388"/>
          </a:xfrm>
        </p:grpSpPr>
        <p:sp>
          <p:nvSpPr>
            <p:cNvPr name="Freeform 7" id="7"/>
            <p:cNvSpPr/>
            <p:nvPr/>
          </p:nvSpPr>
          <p:spPr>
            <a:xfrm>
              <a:off x="0" y="0"/>
              <a:ext cx="2168314" cy="2984388"/>
            </a:xfrm>
            <a:custGeom>
              <a:avLst/>
              <a:gdLst/>
              <a:ahLst/>
              <a:cxnLst/>
              <a:rect r="r" b="b" t="t" l="l"/>
              <a:pathLst>
                <a:path h="2984388" w="2168314">
                  <a:moveTo>
                    <a:pt x="0" y="0"/>
                  </a:moveTo>
                  <a:lnTo>
                    <a:pt x="2168314" y="0"/>
                  </a:lnTo>
                  <a:lnTo>
                    <a:pt x="2168314" y="2984388"/>
                  </a:lnTo>
                  <a:lnTo>
                    <a:pt x="0" y="2984388"/>
                  </a:lnTo>
                  <a:close/>
                </a:path>
              </a:pathLst>
            </a:custGeom>
            <a:solidFill>
              <a:srgbClr val="0E0E0E"/>
            </a:solidFill>
          </p:spPr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true" flipV="false" rot="0">
            <a:off x="5375664" y="1405186"/>
            <a:ext cx="540474" cy="540474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6171088" y="1405186"/>
            <a:ext cx="540474" cy="540474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 rot="0">
            <a:off x="1497143" y="1555901"/>
            <a:ext cx="239044" cy="23904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CB4F6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840206" y="1555901"/>
            <a:ext cx="239044" cy="23904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47C87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79152" y="1555901"/>
            <a:ext cx="239044" cy="23904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9A16"/>
            </a:solidFill>
          </p:spPr>
        </p:sp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70817" y="4535229"/>
            <a:ext cx="491697" cy="478287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26040" y="2490041"/>
            <a:ext cx="485207" cy="468831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407408" y="5614572"/>
            <a:ext cx="528980" cy="408637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>
            <a:off x="1407408" y="5330553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277243" y="3458723"/>
            <a:ext cx="678845" cy="452975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>
            <a:off x="1367232" y="4197269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0">
            <a:off x="1326040" y="3077058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2"/>
          <a:srcRect l="0" t="1384" r="0" b="937"/>
          <a:stretch>
            <a:fillRect/>
          </a:stretch>
        </p:blipFill>
        <p:spPr>
          <a:xfrm flipH="false" flipV="false" rot="0">
            <a:off x="5297898" y="4017194"/>
            <a:ext cx="10955148" cy="5527552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5333681" y="3205659"/>
            <a:ext cx="10291291" cy="448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3"/>
              </a:lnSpc>
            </a:pPr>
            <a:r>
              <a:rPr lang="en-US" spc="-90" sz="2573">
                <a:solidFill>
                  <a:srgbClr val="FFFFFF"/>
                </a:solidFill>
                <a:latin typeface="Glacial Indifference"/>
              </a:rPr>
              <a:t>- To check whether the objectives have been met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375664" y="2094946"/>
            <a:ext cx="10207325" cy="1135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9355"/>
              </a:lnSpc>
            </a:pPr>
            <a:r>
              <a:rPr lang="en-US" sz="6682">
                <a:solidFill>
                  <a:srgbClr val="0DFD81"/>
                </a:solidFill>
                <a:latin typeface="Garet Bold"/>
              </a:rPr>
              <a:t>Evaluation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55778" y="1535706"/>
            <a:ext cx="3995213" cy="40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167"/>
              </a:lnSpc>
            </a:pPr>
            <a:r>
              <a:rPr lang="en-US" sz="2906">
                <a:solidFill>
                  <a:srgbClr val="FFFFFF"/>
                </a:solidFill>
                <a:latin typeface="Glacial Indifference"/>
              </a:rPr>
              <a:t>CRISP-DM Methodology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37959" y="2523748"/>
            <a:ext cx="1138442" cy="35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Home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64224" y="4458945"/>
            <a:ext cx="2017481" cy="7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CRISP-DM Methodology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79250" y="5620870"/>
            <a:ext cx="1787625" cy="34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Summary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064224" y="3305601"/>
            <a:ext cx="2017481" cy="7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Project Background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7793313" y="1686461"/>
            <a:ext cx="9879582" cy="2617264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7599072" y="4960950"/>
            <a:ext cx="10268064" cy="4340317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6093649" y="141605"/>
            <a:ext cx="528089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Open Sans"/>
              </a:rPr>
              <a:t>Evaluating Model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0524" y="1786071"/>
            <a:ext cx="6431026" cy="89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pc="-99" u="sng" sz="2857">
                <a:solidFill>
                  <a:srgbClr val="FFFFFF"/>
                </a:solidFill>
                <a:latin typeface="Glacial Indifference Bold"/>
              </a:rPr>
              <a:t>Accuracy</a:t>
            </a:r>
          </a:p>
          <a:p>
            <a:pPr algn="just">
              <a:lnSpc>
                <a:spcPts val="3299"/>
              </a:lnSpc>
            </a:pPr>
            <a:r>
              <a:rPr lang="en-US" spc="-82" sz="2357">
                <a:solidFill>
                  <a:srgbClr val="FFFFFF"/>
                </a:solidFill>
                <a:latin typeface="Glacial Indifference"/>
              </a:rPr>
              <a:t>-- The percentages of correct predictions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0524" y="5442509"/>
            <a:ext cx="6431026" cy="277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23"/>
              </a:lnSpc>
            </a:pPr>
            <a:r>
              <a:rPr lang="en-US" spc="-100" u="sng" sz="2873">
                <a:solidFill>
                  <a:srgbClr val="FFFFFF"/>
                </a:solidFill>
                <a:latin typeface="Glacial Indifference Bold"/>
              </a:rPr>
              <a:t>Classification Report</a:t>
            </a:r>
          </a:p>
          <a:p>
            <a:pPr algn="just">
              <a:lnSpc>
                <a:spcPts val="3603"/>
              </a:lnSpc>
            </a:pPr>
            <a:r>
              <a:rPr lang="en-US" spc="-100" sz="2573">
                <a:solidFill>
                  <a:srgbClr val="FFFFFF"/>
                </a:solidFill>
                <a:latin typeface="Glacial Indifference"/>
              </a:rPr>
              <a:t>Precision = Ability to accurately predict positive predictions</a:t>
            </a:r>
          </a:p>
          <a:p>
            <a:pPr algn="just">
              <a:lnSpc>
                <a:spcPts val="3603"/>
              </a:lnSpc>
            </a:pPr>
          </a:p>
          <a:p>
            <a:pPr algn="just">
              <a:lnSpc>
                <a:spcPts val="3603"/>
              </a:lnSpc>
            </a:pPr>
            <a:r>
              <a:rPr lang="en-US" spc="-90" sz="2573">
                <a:solidFill>
                  <a:srgbClr val="FFFFFF"/>
                </a:solidFill>
                <a:latin typeface="Glacial Indifference"/>
              </a:rPr>
              <a:t>Recall = capability to identify all positive occurrences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8339618" y="1439500"/>
            <a:ext cx="5859404" cy="144974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930" r="0" b="930"/>
          <a:stretch>
            <a:fillRect/>
          </a:stretch>
        </p:blipFill>
        <p:spPr>
          <a:xfrm flipH="false" flipV="false" rot="0">
            <a:off x="8339618" y="3091973"/>
            <a:ext cx="3737359" cy="7195027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t="1886" r="0" b="1886"/>
          <a:stretch>
            <a:fillRect/>
          </a:stretch>
        </p:blipFill>
        <p:spPr>
          <a:xfrm flipH="false" flipV="false" rot="0">
            <a:off x="12473579" y="3091973"/>
            <a:ext cx="4020407" cy="7195027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6093649" y="141605"/>
            <a:ext cx="528089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Open Sans"/>
              </a:rPr>
              <a:t>Evaluating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0524" y="1391875"/>
            <a:ext cx="6431026" cy="130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pc="-99" u="sng" sz="2857">
                <a:solidFill>
                  <a:srgbClr val="FFFFFF"/>
                </a:solidFill>
                <a:latin typeface="Glacial Indifference Bold"/>
              </a:rPr>
              <a:t>R-Squared Score</a:t>
            </a:r>
          </a:p>
          <a:p>
            <a:pPr algn="just">
              <a:lnSpc>
                <a:spcPts val="3299"/>
              </a:lnSpc>
            </a:pPr>
            <a:r>
              <a:rPr lang="en-US" spc="-82" sz="2357">
                <a:solidFill>
                  <a:srgbClr val="FFFFFF"/>
                </a:solidFill>
                <a:latin typeface="Glacial Indifference"/>
              </a:rPr>
              <a:t>-- Movements of job satisfaction are totally explained by movements in the independent variables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0524" y="4456769"/>
            <a:ext cx="6431026" cy="1333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23"/>
              </a:lnSpc>
            </a:pPr>
            <a:r>
              <a:rPr lang="en-US" spc="-100" u="sng" sz="2873">
                <a:solidFill>
                  <a:srgbClr val="FFFFFF"/>
                </a:solidFill>
                <a:latin typeface="Glacial Indifference Bold"/>
              </a:rPr>
              <a:t>Feature Importance</a:t>
            </a:r>
          </a:p>
          <a:p>
            <a:pPr algn="just">
              <a:lnSpc>
                <a:spcPts val="3323"/>
              </a:lnSpc>
            </a:pPr>
            <a:r>
              <a:rPr lang="en-US" spc="-83" u="sng" sz="2373">
                <a:solidFill>
                  <a:srgbClr val="FFFFFF"/>
                </a:solidFill>
                <a:latin typeface="Glacial Indifference Bold"/>
              </a:rPr>
              <a:t>-</a:t>
            </a:r>
            <a:r>
              <a:rPr lang="en-US" spc="-83" sz="2373">
                <a:solidFill>
                  <a:srgbClr val="FFFFFF"/>
                </a:solidFill>
                <a:latin typeface="Glacial Indifference"/>
              </a:rPr>
              <a:t> The scores simply describe the "importance" of each feature in affecting job satisfaction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70" t="0" r="270" b="1023"/>
          <a:stretch>
            <a:fillRect/>
          </a:stretch>
        </p:blipFill>
        <p:spPr>
          <a:xfrm flipH="false" flipV="false" rot="0">
            <a:off x="2304380" y="725199"/>
            <a:ext cx="14659536" cy="939044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3234205" y="3400233"/>
            <a:ext cx="826842" cy="1452561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2337915" y="1461550"/>
            <a:ext cx="2619422" cy="1771962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9346316" y="1742088"/>
            <a:ext cx="2991599" cy="1210885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6539179" y="-95250"/>
            <a:ext cx="561427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Open Sans"/>
              </a:rPr>
              <a:t>Correlation Matrix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3174" y="1028700"/>
            <a:ext cx="16296126" cy="8180826"/>
            <a:chOff x="0" y="0"/>
            <a:chExt cx="3812450" cy="1913890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3812450" cy="1913890"/>
            </a:xfrm>
            <a:custGeom>
              <a:avLst/>
              <a:gdLst/>
              <a:ahLst/>
              <a:cxnLst/>
              <a:rect r="r" b="b" t="t" l="l"/>
              <a:pathLst>
                <a:path h="1913890" w="3812450">
                  <a:moveTo>
                    <a:pt x="368799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687990" y="0"/>
                  </a:lnTo>
                  <a:cubicBezTo>
                    <a:pt x="3756570" y="0"/>
                    <a:pt x="3812450" y="55880"/>
                    <a:pt x="3812450" y="124460"/>
                  </a:cubicBezTo>
                  <a:lnTo>
                    <a:pt x="3812450" y="1789430"/>
                  </a:lnTo>
                  <a:cubicBezTo>
                    <a:pt x="3812450" y="1858010"/>
                    <a:pt x="3756570" y="1913890"/>
                    <a:pt x="3687990" y="1913890"/>
                  </a:cubicBezTo>
                  <a:close/>
                </a:path>
              </a:pathLst>
            </a:custGeom>
            <a:solidFill>
              <a:srgbClr val="0E0E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3174" y="1028700"/>
            <a:ext cx="4134700" cy="8180826"/>
            <a:chOff x="0" y="0"/>
            <a:chExt cx="967306" cy="1913890"/>
          </a:xfrm>
        </p:grpSpPr>
        <p:sp>
          <p:nvSpPr>
            <p:cNvPr name="Freeform 5" id="5"/>
            <p:cNvSpPr/>
            <p:nvPr/>
          </p:nvSpPr>
          <p:spPr>
            <a:xfrm>
              <a:off x="0" y="0"/>
              <a:ext cx="967306" cy="1913890"/>
            </a:xfrm>
            <a:custGeom>
              <a:avLst/>
              <a:gdLst/>
              <a:ahLst/>
              <a:cxnLst/>
              <a:rect r="r" b="b" t="t" l="l"/>
              <a:pathLst>
                <a:path h="1913890" w="967306">
                  <a:moveTo>
                    <a:pt x="842846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42846" y="0"/>
                  </a:lnTo>
                  <a:cubicBezTo>
                    <a:pt x="911426" y="0"/>
                    <a:pt x="967306" y="55880"/>
                    <a:pt x="967306" y="124460"/>
                  </a:cubicBezTo>
                  <a:lnTo>
                    <a:pt x="967306" y="1789430"/>
                  </a:lnTo>
                  <a:cubicBezTo>
                    <a:pt x="967306" y="1858010"/>
                    <a:pt x="911426" y="1913890"/>
                    <a:pt x="842846" y="1913890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761606" y="1028700"/>
            <a:ext cx="5943799" cy="8180826"/>
            <a:chOff x="0" y="0"/>
            <a:chExt cx="2168314" cy="2984388"/>
          </a:xfrm>
        </p:grpSpPr>
        <p:sp>
          <p:nvSpPr>
            <p:cNvPr name="Freeform 7" id="7"/>
            <p:cNvSpPr/>
            <p:nvPr/>
          </p:nvSpPr>
          <p:spPr>
            <a:xfrm>
              <a:off x="0" y="0"/>
              <a:ext cx="2168314" cy="2984388"/>
            </a:xfrm>
            <a:custGeom>
              <a:avLst/>
              <a:gdLst/>
              <a:ahLst/>
              <a:cxnLst/>
              <a:rect r="r" b="b" t="t" l="l"/>
              <a:pathLst>
                <a:path h="2984388" w="2168314">
                  <a:moveTo>
                    <a:pt x="0" y="0"/>
                  </a:moveTo>
                  <a:lnTo>
                    <a:pt x="2168314" y="0"/>
                  </a:lnTo>
                  <a:lnTo>
                    <a:pt x="2168314" y="2984388"/>
                  </a:lnTo>
                  <a:lnTo>
                    <a:pt x="0" y="2984388"/>
                  </a:lnTo>
                  <a:close/>
                </a:path>
              </a:pathLst>
            </a:custGeom>
            <a:solidFill>
              <a:srgbClr val="0E0E0E"/>
            </a:solidFill>
          </p:spPr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true" flipV="false" rot="0">
            <a:off x="5375664" y="1405186"/>
            <a:ext cx="540474" cy="540474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6171088" y="1405186"/>
            <a:ext cx="540474" cy="540474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>
            <a:off x="5333681" y="7560865"/>
            <a:ext cx="10073344" cy="0"/>
          </a:xfrm>
          <a:prstGeom prst="line">
            <a:avLst/>
          </a:prstGeom>
          <a:ln cap="flat" w="19050">
            <a:solidFill>
              <a:srgbClr val="00E1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5559760" y="4447108"/>
            <a:ext cx="10291291" cy="2277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3"/>
              </a:lnSpc>
            </a:pPr>
            <a:r>
              <a:rPr lang="en-US" spc="-90" sz="2573">
                <a:solidFill>
                  <a:srgbClr val="FFFFFF"/>
                </a:solidFill>
                <a:latin typeface="Glacial Indifference"/>
              </a:rPr>
              <a:t>- Finding valuable insights for decision making</a:t>
            </a:r>
          </a:p>
          <a:p>
            <a:pPr algn="just">
              <a:lnSpc>
                <a:spcPts val="3603"/>
              </a:lnSpc>
            </a:pPr>
          </a:p>
          <a:p>
            <a:pPr algn="just">
              <a:lnSpc>
                <a:spcPts val="3603"/>
              </a:lnSpc>
            </a:pPr>
            <a:r>
              <a:rPr lang="en-US" spc="-90" sz="2573">
                <a:solidFill>
                  <a:srgbClr val="FFFFFF"/>
                </a:solidFill>
                <a:latin typeface="Glacial Indifference"/>
              </a:rPr>
              <a:t>- Generate report</a:t>
            </a:r>
          </a:p>
          <a:p>
            <a:pPr algn="just">
              <a:lnSpc>
                <a:spcPts val="3603"/>
              </a:lnSpc>
            </a:pPr>
          </a:p>
          <a:p>
            <a:pPr algn="just">
              <a:lnSpc>
                <a:spcPts val="3603"/>
              </a:lnSpc>
            </a:pPr>
            <a:r>
              <a:rPr lang="en-US" spc="-90" sz="2573">
                <a:solidFill>
                  <a:srgbClr val="FFFFFF"/>
                </a:solidFill>
                <a:latin typeface="Glacial Indifference"/>
              </a:rPr>
              <a:t>-- Help organization identify which employees are not satisfied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75664" y="2447548"/>
            <a:ext cx="10207325" cy="1135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9355"/>
              </a:lnSpc>
            </a:pPr>
            <a:r>
              <a:rPr lang="en-US" sz="6682">
                <a:solidFill>
                  <a:srgbClr val="0DFD81"/>
                </a:solidFill>
                <a:latin typeface="Garet Bold"/>
              </a:rPr>
              <a:t>Deployment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55778" y="1535706"/>
            <a:ext cx="3995213" cy="40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167"/>
              </a:lnSpc>
            </a:pPr>
            <a:r>
              <a:rPr lang="en-US" sz="2906">
                <a:solidFill>
                  <a:srgbClr val="FFFFFF"/>
                </a:solidFill>
                <a:latin typeface="Glacial Indifference"/>
              </a:rPr>
              <a:t>CRISP-DM Methodology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97143" y="1555901"/>
            <a:ext cx="239044" cy="23904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CB4F6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840206" y="1555901"/>
            <a:ext cx="239044" cy="239044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47C87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179152" y="1555901"/>
            <a:ext cx="239044" cy="239044"/>
            <a:chOff x="0" y="0"/>
            <a:chExt cx="6350000" cy="6350000"/>
          </a:xfrm>
        </p:grpSpPr>
        <p:sp>
          <p:nvSpPr>
            <p:cNvPr name="Freeform 19" id="19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9A16"/>
            </a:solidFill>
          </p:spPr>
        </p:sp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70817" y="4535229"/>
            <a:ext cx="491697" cy="478287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26040" y="2490041"/>
            <a:ext cx="485207" cy="468831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407408" y="5614572"/>
            <a:ext cx="528980" cy="408637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>
            <a:off x="1407408" y="5330553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277243" y="3458723"/>
            <a:ext cx="678845" cy="452975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2137959" y="2523748"/>
            <a:ext cx="1138442" cy="35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Home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64224" y="4458945"/>
            <a:ext cx="2017481" cy="7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CRISP-DM Methodology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79250" y="5620870"/>
            <a:ext cx="1787625" cy="34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Summary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64224" y="3305601"/>
            <a:ext cx="2017481" cy="7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Project Background</a:t>
            </a:r>
          </a:p>
        </p:txBody>
      </p:sp>
      <p:sp>
        <p:nvSpPr>
          <p:cNvPr name="AutoShape 29" id="29"/>
          <p:cNvSpPr/>
          <p:nvPr/>
        </p:nvSpPr>
        <p:spPr>
          <a:xfrm rot="0">
            <a:off x="1367232" y="4197269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rot="0">
            <a:off x="1326040" y="3077058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3174" y="1028700"/>
            <a:ext cx="16296126" cy="8180826"/>
            <a:chOff x="0" y="0"/>
            <a:chExt cx="3812450" cy="1913890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3812450" cy="1913890"/>
            </a:xfrm>
            <a:custGeom>
              <a:avLst/>
              <a:gdLst/>
              <a:ahLst/>
              <a:cxnLst/>
              <a:rect r="r" b="b" t="t" l="l"/>
              <a:pathLst>
                <a:path h="1913890" w="3812450">
                  <a:moveTo>
                    <a:pt x="368799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687990" y="0"/>
                  </a:lnTo>
                  <a:cubicBezTo>
                    <a:pt x="3756570" y="0"/>
                    <a:pt x="3812450" y="55880"/>
                    <a:pt x="3812450" y="124460"/>
                  </a:cubicBezTo>
                  <a:lnTo>
                    <a:pt x="3812450" y="1789430"/>
                  </a:lnTo>
                  <a:cubicBezTo>
                    <a:pt x="3812450" y="1858010"/>
                    <a:pt x="3756570" y="1913890"/>
                    <a:pt x="3687990" y="1913890"/>
                  </a:cubicBezTo>
                  <a:close/>
                </a:path>
              </a:pathLst>
            </a:custGeom>
            <a:solidFill>
              <a:srgbClr val="0E0E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3174" y="1028700"/>
            <a:ext cx="4134700" cy="8180826"/>
            <a:chOff x="0" y="0"/>
            <a:chExt cx="967306" cy="1913890"/>
          </a:xfrm>
        </p:grpSpPr>
        <p:sp>
          <p:nvSpPr>
            <p:cNvPr name="Freeform 5" id="5"/>
            <p:cNvSpPr/>
            <p:nvPr/>
          </p:nvSpPr>
          <p:spPr>
            <a:xfrm>
              <a:off x="0" y="0"/>
              <a:ext cx="967306" cy="1913890"/>
            </a:xfrm>
            <a:custGeom>
              <a:avLst/>
              <a:gdLst/>
              <a:ahLst/>
              <a:cxnLst/>
              <a:rect r="r" b="b" t="t" l="l"/>
              <a:pathLst>
                <a:path h="1913890" w="967306">
                  <a:moveTo>
                    <a:pt x="842846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42846" y="0"/>
                  </a:lnTo>
                  <a:cubicBezTo>
                    <a:pt x="911426" y="0"/>
                    <a:pt x="967306" y="55880"/>
                    <a:pt x="967306" y="124460"/>
                  </a:cubicBezTo>
                  <a:lnTo>
                    <a:pt x="967306" y="1789430"/>
                  </a:lnTo>
                  <a:cubicBezTo>
                    <a:pt x="967306" y="1858010"/>
                    <a:pt x="911426" y="1913890"/>
                    <a:pt x="842846" y="1913890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761606" y="1028700"/>
            <a:ext cx="5943799" cy="8180826"/>
            <a:chOff x="0" y="0"/>
            <a:chExt cx="2168314" cy="2984388"/>
          </a:xfrm>
        </p:grpSpPr>
        <p:sp>
          <p:nvSpPr>
            <p:cNvPr name="Freeform 7" id="7"/>
            <p:cNvSpPr/>
            <p:nvPr/>
          </p:nvSpPr>
          <p:spPr>
            <a:xfrm>
              <a:off x="0" y="0"/>
              <a:ext cx="2168314" cy="2984388"/>
            </a:xfrm>
            <a:custGeom>
              <a:avLst/>
              <a:gdLst/>
              <a:ahLst/>
              <a:cxnLst/>
              <a:rect r="r" b="b" t="t" l="l"/>
              <a:pathLst>
                <a:path h="2984388" w="2168314">
                  <a:moveTo>
                    <a:pt x="0" y="0"/>
                  </a:moveTo>
                  <a:lnTo>
                    <a:pt x="2168314" y="0"/>
                  </a:lnTo>
                  <a:lnTo>
                    <a:pt x="2168314" y="2984388"/>
                  </a:lnTo>
                  <a:lnTo>
                    <a:pt x="0" y="2984388"/>
                  </a:lnTo>
                  <a:close/>
                </a:path>
              </a:pathLst>
            </a:custGeom>
            <a:solidFill>
              <a:srgbClr val="0E0E0E"/>
            </a:solidFill>
          </p:spPr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true" flipV="false" rot="0">
            <a:off x="5375664" y="1405186"/>
            <a:ext cx="540474" cy="540474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6171088" y="1405186"/>
            <a:ext cx="540474" cy="540474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7036108" y="1474714"/>
            <a:ext cx="2451803" cy="35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Summary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97143" y="1555901"/>
            <a:ext cx="239044" cy="239044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CB4F6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840206" y="1555901"/>
            <a:ext cx="239044" cy="239044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47C87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179152" y="1555901"/>
            <a:ext cx="239044" cy="239044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9A16"/>
            </a:solidFill>
          </p:spPr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70817" y="4535229"/>
            <a:ext cx="491697" cy="478287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26040" y="2490041"/>
            <a:ext cx="485207" cy="468831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407408" y="5614572"/>
            <a:ext cx="528980" cy="408637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>
            <a:off x="1326040" y="3082122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0">
            <a:off x="1407408" y="5330553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277243" y="3458723"/>
            <a:ext cx="678845" cy="452975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2137959" y="2523748"/>
            <a:ext cx="1138442" cy="35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Home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64224" y="4458945"/>
            <a:ext cx="2017481" cy="7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CRISP-DM Methodology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79250" y="5620870"/>
            <a:ext cx="1787625" cy="34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Summary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64224" y="3305601"/>
            <a:ext cx="2017481" cy="7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Project Background</a:t>
            </a:r>
          </a:p>
        </p:txBody>
      </p:sp>
      <p:sp>
        <p:nvSpPr>
          <p:cNvPr name="AutoShape 27" id="27"/>
          <p:cNvSpPr/>
          <p:nvPr/>
        </p:nvSpPr>
        <p:spPr>
          <a:xfrm rot="0">
            <a:off x="1367232" y="4197269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5559760" y="4447108"/>
            <a:ext cx="10291291" cy="3192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3"/>
              </a:lnSpc>
            </a:pPr>
            <a:r>
              <a:rPr lang="en-US" spc="-90" sz="2573">
                <a:solidFill>
                  <a:srgbClr val="FFFFFF"/>
                </a:solidFill>
                <a:latin typeface="Glacial Indifference"/>
              </a:rPr>
              <a:t>- Accuracy 99%</a:t>
            </a:r>
          </a:p>
          <a:p>
            <a:pPr algn="just">
              <a:lnSpc>
                <a:spcPts val="3603"/>
              </a:lnSpc>
            </a:pPr>
          </a:p>
          <a:p>
            <a:pPr algn="just">
              <a:lnSpc>
                <a:spcPts val="3603"/>
              </a:lnSpc>
            </a:pPr>
            <a:r>
              <a:rPr lang="en-US" spc="-90" sz="2573">
                <a:solidFill>
                  <a:srgbClr val="FFFFFF"/>
                </a:solidFill>
                <a:latin typeface="Glacial Indifference"/>
              </a:rPr>
              <a:t>- Monthly Income is the most significant factor</a:t>
            </a:r>
          </a:p>
          <a:p>
            <a:pPr algn="just">
              <a:lnSpc>
                <a:spcPts val="3603"/>
              </a:lnSpc>
            </a:pPr>
          </a:p>
          <a:p>
            <a:pPr algn="just">
              <a:lnSpc>
                <a:spcPts val="3603"/>
              </a:lnSpc>
            </a:pPr>
            <a:r>
              <a:rPr lang="en-US" spc="-90" sz="2573">
                <a:solidFill>
                  <a:srgbClr val="FFFFFF"/>
                </a:solidFill>
                <a:latin typeface="Glacial Indifference"/>
              </a:rPr>
              <a:t>- "Money Matters"</a:t>
            </a:r>
          </a:p>
          <a:p>
            <a:pPr algn="just">
              <a:lnSpc>
                <a:spcPts val="3603"/>
              </a:lnSpc>
            </a:pPr>
          </a:p>
          <a:p>
            <a:pPr algn="just">
              <a:lnSpc>
                <a:spcPts val="3603"/>
              </a:lnSpc>
            </a:pPr>
            <a:r>
              <a:rPr lang="en-US" spc="-90" sz="2573">
                <a:solidFill>
                  <a:srgbClr val="FFFFFF"/>
                </a:solidFill>
                <a:latin typeface="Glacial Indifference"/>
              </a:rPr>
              <a:t>- Analytical goals achieved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421723" y="2550015"/>
            <a:ext cx="10207325" cy="1135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9355"/>
              </a:lnSpc>
            </a:pPr>
            <a:r>
              <a:rPr lang="en-US" sz="6682">
                <a:solidFill>
                  <a:srgbClr val="0DFD81"/>
                </a:solidFill>
                <a:latin typeface="Garet Bold"/>
              </a:rPr>
              <a:t>Summary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3174" y="1028700"/>
            <a:ext cx="16296126" cy="8180826"/>
            <a:chOff x="0" y="0"/>
            <a:chExt cx="3812450" cy="1913890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3812450" cy="1913890"/>
            </a:xfrm>
            <a:custGeom>
              <a:avLst/>
              <a:gdLst/>
              <a:ahLst/>
              <a:cxnLst/>
              <a:rect r="r" b="b" t="t" l="l"/>
              <a:pathLst>
                <a:path h="1913890" w="3812450">
                  <a:moveTo>
                    <a:pt x="368799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687990" y="0"/>
                  </a:lnTo>
                  <a:cubicBezTo>
                    <a:pt x="3756570" y="0"/>
                    <a:pt x="3812450" y="55880"/>
                    <a:pt x="3812450" y="124460"/>
                  </a:cubicBezTo>
                  <a:lnTo>
                    <a:pt x="3812450" y="1789430"/>
                  </a:lnTo>
                  <a:cubicBezTo>
                    <a:pt x="3812450" y="1858010"/>
                    <a:pt x="3756570" y="1913890"/>
                    <a:pt x="3687990" y="1913890"/>
                  </a:cubicBezTo>
                  <a:close/>
                </a:path>
              </a:pathLst>
            </a:custGeom>
            <a:solidFill>
              <a:srgbClr val="0E0E0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3174" y="1028700"/>
            <a:ext cx="4134700" cy="8180826"/>
            <a:chOff x="0" y="0"/>
            <a:chExt cx="967306" cy="1913890"/>
          </a:xfrm>
        </p:grpSpPr>
        <p:sp>
          <p:nvSpPr>
            <p:cNvPr name="Freeform 5" id="5"/>
            <p:cNvSpPr/>
            <p:nvPr/>
          </p:nvSpPr>
          <p:spPr>
            <a:xfrm>
              <a:off x="0" y="0"/>
              <a:ext cx="967306" cy="1913890"/>
            </a:xfrm>
            <a:custGeom>
              <a:avLst/>
              <a:gdLst/>
              <a:ahLst/>
              <a:cxnLst/>
              <a:rect r="r" b="b" t="t" l="l"/>
              <a:pathLst>
                <a:path h="1913890" w="967306">
                  <a:moveTo>
                    <a:pt x="842846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42846" y="0"/>
                  </a:lnTo>
                  <a:cubicBezTo>
                    <a:pt x="911426" y="0"/>
                    <a:pt x="967306" y="55880"/>
                    <a:pt x="967306" y="124460"/>
                  </a:cubicBezTo>
                  <a:lnTo>
                    <a:pt x="967306" y="1789430"/>
                  </a:lnTo>
                  <a:cubicBezTo>
                    <a:pt x="967306" y="1858010"/>
                    <a:pt x="911426" y="1913890"/>
                    <a:pt x="842846" y="1913890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761606" y="1028700"/>
            <a:ext cx="5943799" cy="8180826"/>
            <a:chOff x="0" y="0"/>
            <a:chExt cx="2168314" cy="2984388"/>
          </a:xfrm>
        </p:grpSpPr>
        <p:sp>
          <p:nvSpPr>
            <p:cNvPr name="Freeform 7" id="7"/>
            <p:cNvSpPr/>
            <p:nvPr/>
          </p:nvSpPr>
          <p:spPr>
            <a:xfrm>
              <a:off x="0" y="0"/>
              <a:ext cx="2168314" cy="2984388"/>
            </a:xfrm>
            <a:custGeom>
              <a:avLst/>
              <a:gdLst/>
              <a:ahLst/>
              <a:cxnLst/>
              <a:rect r="r" b="b" t="t" l="l"/>
              <a:pathLst>
                <a:path h="2984388" w="2168314">
                  <a:moveTo>
                    <a:pt x="0" y="0"/>
                  </a:moveTo>
                  <a:lnTo>
                    <a:pt x="2168314" y="0"/>
                  </a:lnTo>
                  <a:lnTo>
                    <a:pt x="2168314" y="2984388"/>
                  </a:lnTo>
                  <a:lnTo>
                    <a:pt x="0" y="2984388"/>
                  </a:lnTo>
                  <a:close/>
                </a:path>
              </a:pathLst>
            </a:custGeom>
            <a:solidFill>
              <a:srgbClr val="0E0E0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5274908" y="3058475"/>
            <a:ext cx="10860995" cy="178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3870"/>
              </a:lnSpc>
            </a:pPr>
            <a:r>
              <a:rPr lang="en-US" sz="12061">
                <a:solidFill>
                  <a:srgbClr val="CB4F69"/>
                </a:solidFill>
                <a:latin typeface="Garet ExtraBold"/>
              </a:rPr>
              <a:t>THANK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28164" y="4686138"/>
            <a:ext cx="4730704" cy="192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5054"/>
              </a:lnSpc>
            </a:pPr>
            <a:r>
              <a:rPr lang="en-US" sz="13090">
                <a:solidFill>
                  <a:srgbClr val="0DFD81"/>
                </a:solidFill>
                <a:latin typeface="Garet ExtraBold"/>
              </a:rPr>
              <a:t>YOU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97813" y="8203280"/>
            <a:ext cx="4565222" cy="805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526"/>
              </a:lnSpc>
            </a:pPr>
            <a:r>
              <a:rPr lang="en-US" sz="4661">
                <a:solidFill>
                  <a:srgbClr val="FFFFFF"/>
                </a:solidFill>
                <a:latin typeface="Garet Bold"/>
              </a:rPr>
              <a:t>By: Aqil Helmi </a:t>
            </a:r>
          </a:p>
        </p:txBody>
      </p:sp>
      <p:sp>
        <p:nvSpPr>
          <p:cNvPr name="AutoShape 11" id="11"/>
          <p:cNvSpPr/>
          <p:nvPr/>
        </p:nvSpPr>
        <p:spPr>
          <a:xfrm rot="0">
            <a:off x="8508445" y="7906498"/>
            <a:ext cx="732859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0">
            <a:off x="5375664" y="7906498"/>
            <a:ext cx="3258356" cy="0"/>
          </a:xfrm>
          <a:prstGeom prst="line">
            <a:avLst/>
          </a:prstGeom>
          <a:ln cap="flat" w="47625">
            <a:solidFill>
              <a:srgbClr val="CB4F69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13" id="13"/>
          <p:cNvGrpSpPr/>
          <p:nvPr/>
        </p:nvGrpSpPr>
        <p:grpSpPr>
          <a:xfrm rot="0">
            <a:off x="1497143" y="1555901"/>
            <a:ext cx="239044" cy="239044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CB4F6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840206" y="1555901"/>
            <a:ext cx="239044" cy="239044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47C87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179152" y="1555901"/>
            <a:ext cx="239044" cy="239044"/>
            <a:chOff x="0" y="0"/>
            <a:chExt cx="6350000" cy="6350000"/>
          </a:xfrm>
        </p:grpSpPr>
        <p:sp>
          <p:nvSpPr>
            <p:cNvPr name="Freeform 18" id="18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9A16"/>
            </a:solidFill>
          </p:spPr>
        </p:sp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70817" y="4535229"/>
            <a:ext cx="491697" cy="478287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54999" y="2336957"/>
            <a:ext cx="485207" cy="468831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407408" y="5614572"/>
            <a:ext cx="528980" cy="408637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>
            <a:off x="1407408" y="5330553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277243" y="3458723"/>
            <a:ext cx="678845" cy="452975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2097783" y="2451996"/>
            <a:ext cx="1138442" cy="35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Home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64224" y="4458945"/>
            <a:ext cx="2017481" cy="7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CRISP-DM Methodology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79250" y="5620870"/>
            <a:ext cx="1787625" cy="34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Summary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64224" y="3305601"/>
            <a:ext cx="2017481" cy="7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Garet"/>
              </a:rPr>
              <a:t>Project Background</a:t>
            </a:r>
          </a:p>
        </p:txBody>
      </p:sp>
      <p:sp>
        <p:nvSpPr>
          <p:cNvPr name="AutoShape 28" id="28"/>
          <p:cNvSpPr/>
          <p:nvPr/>
        </p:nvSpPr>
        <p:spPr>
          <a:xfrm rot="0">
            <a:off x="1367232" y="4197269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rot="0">
            <a:off x="1407408" y="2868050"/>
            <a:ext cx="259954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DAFBi9Ug56M</dc:identifier>
  <dcterms:modified xsi:type="dcterms:W3CDTF">2011-08-01T06:04:30Z</dcterms:modified>
  <cp:revision>1</cp:revision>
  <dc:title>Final Year Project Slides Presentation (Aqil Helmi)</dc:title>
</cp:coreProperties>
</file>